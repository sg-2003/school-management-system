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109728" cy="411480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6858000" cy="2011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5400" b="1">
                <a:solidFill>
                  <a:srgbClr val="F1F5F9"/>
                </a:solidFill>
                <a:latin typeface="Segoe UI"/>
              </a:defRPr>
            </a:pPr>
            <a:r>
              <a:t>EDUPRO ELITE OS</a:t>
            </a:r>
          </a:p>
          <a:p>
            <a:pPr>
              <a:spcAft>
                <a:spcPts val="14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DEVELOPER IMPLEMENTATION BLUEPRINT</a:t>
            </a:r>
          </a:p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A complete technical guide to building and compiling the full-stack AI-enabled school management platform. Relational configurations, API schemas, security layers, and source snippets.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0" y="1371600"/>
            <a:ext cx="3840480" cy="4114800"/>
          </a:xfrm>
          <a:prstGeom prst="roundRect">
            <a:avLst/>
          </a:prstGeom>
          <a:solidFill>
            <a:srgbClr val="161C2D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1600200"/>
            <a:ext cx="338328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DEVELOPERS</a:t>
            </a:r>
          </a:p>
          <a:p>
            <a:pPr>
              <a:spcAft>
                <a:spcPts val="1200"/>
              </a:spcAft>
              <a:defRPr sz="1150">
                <a:solidFill>
                  <a:srgbClr val="F1F5F9"/>
                </a:solidFill>
                <a:latin typeface="Segoe UI"/>
              </a:defRPr>
            </a:pPr>
            <a:r>
              <a:t>Ankit Kumar Dubey (2211108)</a:t>
            </a:r>
            <a:br/>
            <a:r>
              <a:t>Sukumar Gope (2211157)</a:t>
            </a:r>
            <a:br/>
            <a:r>
              <a:t>Ravikant Mahto (2211135)</a:t>
            </a:r>
            <a:br/>
            <a:r>
              <a:t>Aryan Kumar (2211146)</a:t>
            </a:r>
            <a:br/>
            <a:r>
              <a:t>Abhijeet K. Prajapati (2211102)</a:t>
            </a:r>
          </a:p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PROJECT SUPERVISOR</a:t>
            </a:r>
          </a:p>
          <a:p>
            <a:pPr>
              <a:spcAft>
                <a:spcPts val="1200"/>
              </a:spcAft>
              <a:defRPr sz="1150">
                <a:solidFill>
                  <a:srgbClr val="F1F5F9"/>
                </a:solidFill>
                <a:latin typeface="Segoe UI"/>
              </a:defRPr>
            </a:pPr>
            <a:r>
              <a:t>Mr. Sumeet Kumar (Assistant Professor)</a:t>
            </a:r>
            <a:br/>
            <a:r>
              <a:t>Mr. Awadhesh Kumar (H.O.D)</a:t>
            </a:r>
          </a:p>
          <a:p>
            <a:pPr>
              <a:defRPr sz="1150" b="1">
                <a:solidFill>
                  <a:srgbClr val="34D399"/>
                </a:solidFill>
                <a:latin typeface="Segoe UI"/>
              </a:defRPr>
            </a:pPr>
            <a:r>
              <a:t>UCET, Vinoba Bhave University</a:t>
            </a:r>
            <a:br/>
            <a:r>
              <a:t>B.Tech Information Technology</a:t>
            </a:r>
            <a:br/>
            <a:r>
              <a:t>Session: 2022 - 2026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Segoe UI"/>
              </a:defRPr>
            </a:pPr>
            <a:r>
              <a:t>SYSTEM IMPLEMENTATION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377440" cy="1828800"/>
          </a:xfrm>
          <a:prstGeom prst="roundRect">
            <a:avLst/>
          </a:prstGeom>
          <a:solidFill>
            <a:srgbClr val="161C2D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755648"/>
            <a:ext cx="2157984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Phase 1: DB Config</a:t>
            </a:r>
          </a:p>
          <a:p>
            <a:pPr>
              <a:defRPr sz="1100">
                <a:solidFill>
                  <a:srgbClr val="F1F5F9"/>
                </a:solidFill>
                <a:latin typeface="Segoe UI"/>
              </a:defRPr>
            </a:pPr>
            <a:r>
              <a:t>Install MySQL and construct relation schemas with foreign cascades.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11296" y="1645920"/>
            <a:ext cx="2377440" cy="1828800"/>
          </a:xfrm>
          <a:prstGeom prst="roundRect">
            <a:avLst/>
          </a:prstGeom>
          <a:solidFill>
            <a:srgbClr val="161C2D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21024" y="1755648"/>
            <a:ext cx="2157984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Phase 2: Backend API</a:t>
            </a:r>
          </a:p>
          <a:p>
            <a:pPr>
              <a:defRPr sz="1100">
                <a:solidFill>
                  <a:srgbClr val="F1F5F9"/>
                </a:solidFill>
                <a:latin typeface="Segoe UI"/>
              </a:defRPr>
            </a:pPr>
            <a:r>
              <a:t>Initialize Node/Express, set connection pools, write endpoints.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645920"/>
            <a:ext cx="2377440" cy="1828800"/>
          </a:xfrm>
          <a:prstGeom prst="roundRect">
            <a:avLst/>
          </a:prstGeom>
          <a:solidFill>
            <a:srgbClr val="161C2D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55648"/>
            <a:ext cx="2157984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Phase 3: JWT Security</a:t>
            </a:r>
          </a:p>
          <a:p>
            <a:pPr>
              <a:defRPr sz="1100">
                <a:solidFill>
                  <a:srgbClr val="F1F5F9"/>
                </a:solidFill>
                <a:latin typeface="Segoe UI"/>
              </a:defRPr>
            </a:pPr>
            <a:r>
              <a:t>Secure express endpoints using token authentication middleware.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70848" y="1645920"/>
            <a:ext cx="2377440" cy="1828800"/>
          </a:xfrm>
          <a:prstGeom prst="roundRect">
            <a:avLst/>
          </a:prstGeom>
          <a:solidFill>
            <a:srgbClr val="161C2D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0576" y="1755648"/>
            <a:ext cx="2157984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Phase 4: Client Core</a:t>
            </a:r>
          </a:p>
          <a:p>
            <a:pPr>
              <a:defRPr sz="1100">
                <a:solidFill>
                  <a:srgbClr val="F1F5F9"/>
                </a:solidFill>
                <a:latin typeface="Segoe UI"/>
              </a:defRPr>
            </a:pPr>
            <a:r>
              <a:t>Build Vite-React framework, bind APIs using Axios interceptors.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54680" y="2377440"/>
            <a:ext cx="310896" cy="365760"/>
          </a:xfrm>
          <a:prstGeom prst="rightArrow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5934456" y="2377440"/>
            <a:ext cx="310896" cy="365760"/>
          </a:xfrm>
          <a:prstGeom prst="rightArrow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8714232" y="2377440"/>
            <a:ext cx="310896" cy="365760"/>
          </a:xfrm>
          <a:prstGeom prst="rightArrow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10728655" cy="237744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5072"/>
            <a:ext cx="10399471" cy="2048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Build Strategy &amp; Quality Checks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Modular Development: </a:t>
            </a:r>
            <a:r>
              <a:rPr>
                <a:solidFill>
                  <a:srgbClr val="94A3B8"/>
                </a:solidFill>
              </a:rPr>
              <a:t>Enables clean separation of frontend components and Express routes to simplify debugging and scaling.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Seed Testing: </a:t>
            </a:r>
            <a:r>
              <a:rPr>
                <a:solidFill>
                  <a:srgbClr val="94A3B8"/>
                </a:solidFill>
              </a:rPr>
              <a:t>Uses automatic database seeders during local runs to quickly generate mock data without manual entry.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Integrity Assurances: </a:t>
            </a:r>
            <a:r>
              <a:rPr>
                <a:solidFill>
                  <a:srgbClr val="94A3B8"/>
                </a:solidFill>
              </a:rPr>
              <a:t>MySQL foreign key constraints ensure deleting records (such as students) clean up related tables automatically.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Segoe UI"/>
              </a:defRPr>
            </a:pPr>
            <a:r>
              <a:t>PHASE 1: DATABASE SCHEMA BLUEPRINT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80990" cy="475488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27632"/>
            <a:ext cx="4851806" cy="4425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Relational Table Schema Design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Database normalization: </a:t>
            </a:r>
            <a:r>
              <a:rPr>
                <a:solidFill>
                  <a:srgbClr val="94A3B8"/>
                </a:solidFill>
              </a:rPr>
              <a:t>Organizes data into isolated tables (users, students, teachers, attendance, fees, etc.) to minimize duplicate fields.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Foreign Key Cascades: </a:t>
            </a:r>
            <a:r>
              <a:rPr>
                <a:solidFill>
                  <a:srgbClr val="94A3B8"/>
                </a:solidFill>
              </a:rPr>
              <a:t>Creates links between students and related tables (attendance, fees, library) to handle deletions safely.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Role Enumeration: </a:t>
            </a:r>
            <a:r>
              <a:rPr>
                <a:solidFill>
                  <a:srgbClr val="94A3B8"/>
                </a:solidFill>
              </a:rPr>
              <a:t>Defines user roles strictly as enum('admin', 'teacher', 'student', 'parent') for permission security.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Data Types Choice: </a:t>
            </a:r>
            <a:r>
              <a:rPr>
                <a:solidFill>
                  <a:srgbClr val="94A3B8"/>
                </a:solidFill>
              </a:rPr>
              <a:t>Uses primary key string indices (VARCHAR) for student_id/teacher_id, decimal fields for fees collection, and date-time indices.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463040"/>
            <a:ext cx="5180990" cy="4754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15430" y="1600200"/>
            <a:ext cx="490667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4D399"/>
                </a:solidFill>
                <a:latin typeface="Consolas"/>
              </a:defRPr>
            </a:pPr>
            <a:r>
              <a:t>// database.sql (Relational Core)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CREATE DATABASE IF NOT EXISTS school_db;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USE school_db;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CREATE TABLE users (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id INT AUTO_INCREMENT PRIMARY KEY,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name VARCHAR(100) NOT NULL,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email VARCHAR(100) UNIQUE NOT NULL,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password VARCHAR(255) NOT NULL,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role ENUM('admin','teacher','student','parent'),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profilePic TEXT,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created_at TIMESTAMP DEFAULT CURRENT_TIMESTAMP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);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CREATE TABLE students (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student_id VARCHAR(20) PRIMARY KEY,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name VARCHAR(100) NOT NULL,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class_id INT,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section_id INT,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FOREIGN KEY (class_id) REFERENCES classes(class_id)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);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Segoe UI"/>
              </a:defRPr>
            </a:pPr>
            <a:r>
              <a:t>PHASE 2: DATABASE SETUP &amp; SEEDING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80990" cy="475488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27632"/>
            <a:ext cx="4851806" cy="4425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Bootstrapping Database via Code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Startup seeding script: </a:t>
            </a:r>
            <a:r>
              <a:rPr>
                <a:solidFill>
                  <a:srgbClr val="94A3B8"/>
                </a:solidFill>
              </a:rPr>
              <a:t>Executes when the Express API server boots up, ensuring the target database and tables exist automatically.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Laragon &amp; XAMPP support: </a:t>
            </a:r>
            <a:r>
              <a:rPr>
                <a:solidFill>
                  <a:srgbClr val="94A3B8"/>
                </a:solidFill>
              </a:rPr>
              <a:t>Connects directly using local credentials (root/no password) and handles port 3306 configurations.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Verification logic: </a:t>
            </a:r>
            <a:r>
              <a:rPr>
                <a:solidFill>
                  <a:srgbClr val="94A3B8"/>
                </a:solidFill>
              </a:rPr>
              <a:t>Checks if table records exist (e.g. admin@school.com) and seeds mock profiles if tables are empty.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Graceful error handling: </a:t>
            </a:r>
            <a:r>
              <a:rPr>
                <a:solidFill>
                  <a:srgbClr val="94A3B8"/>
                </a:solidFill>
              </a:rPr>
              <a:t>Tries to reconnect if SQL services are inactive on launch, printing clear troubleshooting logs.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463040"/>
            <a:ext cx="5180990" cy="4754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15430" y="1600200"/>
            <a:ext cx="490667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4D399"/>
                </a:solidFill>
                <a:latin typeface="Consolas"/>
              </a:defRPr>
            </a:pPr>
            <a:r>
              <a:t>// config/dbInit.js (Auto Seeder)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const mysql = require('mysql2/promise');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const initDb = async () =&gt; {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const dbName = process.env.DB_NAME || 'school_db';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const connection = await mysql.createConnection({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  host: process.env.DB_HOST || '127.0.0.1',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  user: process.env.DB_USER || 'root',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  password: process.env.DB_PASSWORD || ''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});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await connection.query(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  `CREATE DATABASE IF NOT EXISTS ${dbName}`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);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await connection.query(`USE ${dbName}`);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// Loop and execute table creations...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await connection.query(`INSERT INTO users...`);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};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module.exports = initDb;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Segoe UI"/>
              </a:defRPr>
            </a:pPr>
            <a:r>
              <a:t>PHASE 3: EXPRESS BACKEND GATEWAY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80990" cy="475488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27632"/>
            <a:ext cx="4851806" cy="4425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Express App &amp; Middleware Configurations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JSON Parser: </a:t>
            </a:r>
            <a:r>
              <a:rPr>
                <a:solidFill>
                  <a:srgbClr val="94A3B8"/>
                </a:solidFill>
              </a:rPr>
              <a:t>Enables `app.use(express.json())` middleware to handle REST payloads safely.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CORS Policy: </a:t>
            </a:r>
            <a:r>
              <a:rPr>
                <a:solidFill>
                  <a:srgbClr val="94A3B8"/>
                </a:solidFill>
              </a:rPr>
              <a:t>Integrates cross-origin middleware to allow connection requests from the React frontend port (5173).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Connection Pooling: </a:t>
            </a:r>
            <a:r>
              <a:rPr>
                <a:solidFill>
                  <a:srgbClr val="94A3B8"/>
                </a:solidFill>
              </a:rPr>
              <a:t>Creates a MySQL query connection pool to optimize parallel queries and prevent connection leaks.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Start sequences: </a:t>
            </a:r>
            <a:r>
              <a:rPr>
                <a:solidFill>
                  <a:srgbClr val="94A3B8"/>
                </a:solidFill>
              </a:rPr>
              <a:t>Calls `initDb()` first to verify database schemas before activating listeners on port 5000.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463040"/>
            <a:ext cx="5180990" cy="4754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15430" y="1600200"/>
            <a:ext cx="490667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4D399"/>
                </a:solidFill>
                <a:latin typeface="Consolas"/>
              </a:defRPr>
            </a:pPr>
            <a:r>
              <a:t>// server.js (Boilerplate Configuration)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const express = require('express');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const mysql = require('mysql2/promise');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const cors = require('cors');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const initDb = require('./config/dbInit');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const app = express();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app.use(cors());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app.use(express.json());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const pool = mysql.createPool({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host: process.env.DB_HOST || '127.0.0.1',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user: process.env.DB_USER || 'root',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database: process.env.DB_NAME || 'school_db',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connectionLimit: 10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});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initDb().then(() =&gt; {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app.listen(5000, () =&gt; console.log('API Live!'));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});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Segoe UI"/>
              </a:defRPr>
            </a:pPr>
            <a:r>
              <a:t>REST API ENDPOINTS: CORE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80990" cy="475488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27632"/>
            <a:ext cx="4851806" cy="4425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Authentication &amp; Status APIs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POST /api/login: </a:t>
            </a:r>
            <a:r>
              <a:rPr>
                <a:solidFill>
                  <a:srgbClr val="94A3B8"/>
                </a:solidFill>
              </a:rPr>
              <a:t>Validates email/password against user table. Returns signed JWT tokens and role properties.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POST /api/register: </a:t>
            </a:r>
            <a:r>
              <a:rPr>
                <a:solidFill>
                  <a:srgbClr val="94A3B8"/>
                </a:solidFill>
              </a:rPr>
              <a:t>Inserts new user profiles into the users database.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GET /api/stats: </a:t>
            </a:r>
            <a:r>
              <a:rPr>
                <a:solidFill>
                  <a:srgbClr val="94A3B8"/>
                </a:solidFill>
              </a:rPr>
              <a:t>Fetches aggregate counts of active students, registered teachers, notice counts, and financial caches for dashboards.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463040"/>
            <a:ext cx="5180990" cy="475488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2862" y="1627632"/>
            <a:ext cx="4851806" cy="4425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Directory Registers APIs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GET /api/students: </a:t>
            </a:r>
            <a:r>
              <a:rPr>
                <a:solidFill>
                  <a:srgbClr val="94A3B8"/>
                </a:solidFill>
              </a:rPr>
              <a:t>Fetches database student profile listings.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POST /api/students: </a:t>
            </a:r>
            <a:r>
              <a:rPr>
                <a:solidFill>
                  <a:srgbClr val="94A3B8"/>
                </a:solidFill>
              </a:rPr>
              <a:t>Registers student profiles with class mappings.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DELETE /api/students/:id: </a:t>
            </a:r>
            <a:r>
              <a:rPr>
                <a:solidFill>
                  <a:srgbClr val="94A3B8"/>
                </a:solidFill>
              </a:rPr>
              <a:t>Triggers cascading deletion queries to clean up attendance, marks, fees, and hostel records first.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GET /api/teachers: </a:t>
            </a:r>
            <a:r>
              <a:rPr>
                <a:solidFill>
                  <a:srgbClr val="94A3B8"/>
                </a:solidFill>
              </a:rPr>
              <a:t>Fetches user listings filtered by role = 'teacher'.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POST /api/teachers: </a:t>
            </a:r>
            <a:r>
              <a:rPr>
                <a:solidFill>
                  <a:srgbClr val="94A3B8"/>
                </a:solidFill>
              </a:rPr>
              <a:t>Inserts credentials with qualification, experience, and class assignments.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Segoe UI"/>
              </a:defRPr>
            </a:pPr>
            <a:r>
              <a:t>REST API ENDPOINTS: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80990" cy="475488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27632"/>
            <a:ext cx="4851806" cy="4425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Academic &amp; Operational Endpoints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GET | POST /api/attendance: </a:t>
            </a:r>
            <a:r>
              <a:rPr>
                <a:solidFill>
                  <a:srgbClr val="94A3B8"/>
                </a:solidFill>
              </a:rPr>
              <a:t>Logs student attendance (Present, Absent, Late) mapped to specific dates.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GET | POST /api/exams: </a:t>
            </a:r>
            <a:r>
              <a:rPr>
                <a:solidFill>
                  <a:srgbClr val="94A3B8"/>
                </a:solidFill>
              </a:rPr>
              <a:t>Schedules exam blocks and maps them to academic classes.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GET | POST /api/timetable: </a:t>
            </a:r>
            <a:r>
              <a:rPr>
                <a:solidFill>
                  <a:srgbClr val="94A3B8"/>
                </a:solidFill>
              </a:rPr>
              <a:t>Manages subject assignments and assigns teachers to prevent collisions.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463040"/>
            <a:ext cx="5180990" cy="475488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2862" y="1627632"/>
            <a:ext cx="4851806" cy="4425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Logistics &amp; Communication Endpoints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GET | POST /api/fees: </a:t>
            </a:r>
            <a:r>
              <a:rPr>
                <a:solidFill>
                  <a:srgbClr val="94A3B8"/>
                </a:solidFill>
              </a:rPr>
              <a:t>Monitors student transaction ledgers, sorting by Paid vs Unpaid statuses.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GET | POST | DELETE /api/hostel: </a:t>
            </a:r>
            <a:r>
              <a:rPr>
                <a:solidFill>
                  <a:srgbClr val="94A3B8"/>
                </a:solidFill>
              </a:rPr>
              <a:t>Logs student room block occupancy allocations and vacancy balances.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GET | POST /api/library: </a:t>
            </a:r>
            <a:r>
              <a:rPr>
                <a:solidFill>
                  <a:srgbClr val="94A3B8"/>
                </a:solidFill>
              </a:rPr>
              <a:t>Mainages book listings and tracks available vs issued resource indicators.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GET | POST | DELETE /api/notices: </a:t>
            </a:r>
            <a:r>
              <a:rPr>
                <a:solidFill>
                  <a:srgbClr val="94A3B8"/>
                </a:solidFill>
              </a:rPr>
              <a:t>Broadcasts notices targeting parent, student, or teacher roles.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Segoe UI"/>
              </a:defRPr>
            </a:pPr>
            <a:r>
              <a:t>PHASE 4: JWT SECURITY MIDDLEWARE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80990" cy="475488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27632"/>
            <a:ext cx="4851806" cy="4425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Role Verification &amp; Guard Logic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Stateless Security: </a:t>
            </a:r>
            <a:r>
              <a:rPr>
                <a:solidFill>
                  <a:srgbClr val="94A3B8"/>
                </a:solidFill>
              </a:rPr>
              <a:t>JWT tokens encode user IDs and roles, verifying access permissions on every backend route check.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Authorization Middleware: </a:t>
            </a:r>
            <a:r>
              <a:rPr>
                <a:solidFill>
                  <a:srgbClr val="94A3B8"/>
                </a:solidFill>
              </a:rPr>
              <a:t>Express routes are protected by a verification function. It checks the HTTP header payload before executing SQL queries.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Payload Parsing: </a:t>
            </a:r>
            <a:r>
              <a:rPr>
                <a:solidFill>
                  <a:srgbClr val="94A3B8"/>
                </a:solidFill>
              </a:rPr>
              <a:t>Decodes role signatures to prevent students or parents from editing marks, logs, or notice boards.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Security boundaries: </a:t>
            </a:r>
            <a:r>
              <a:rPr>
                <a:solidFill>
                  <a:srgbClr val="94A3B8"/>
                </a:solidFill>
              </a:rPr>
              <a:t>Restricts operations. Teachers can only edit marks, Parents can only view grades, and Admins handle configs.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463040"/>
            <a:ext cx="5180990" cy="4754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15430" y="1600200"/>
            <a:ext cx="490667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4D399"/>
                </a:solidFill>
                <a:latin typeface="Consolas"/>
              </a:defRPr>
            </a:pPr>
            <a:r>
              <a:t>// middleware/auth.js (JWT Middleware)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const jwt = require('jwt-simple');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const secret = process.env.JWT_SECRET;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const checkRole = (allowedRoles) =&gt; {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return (req, res, next) =&gt; {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  const auth = req.headers['authorization'];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  const token = auth &amp;&amp; auth.split(' ')[1];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  if (!token) return res.sendStatus(401);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  try {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    const payload = jwt.decode(token, secret);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    if (!allowedRoles.includes(payload.role)) {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      return res.sendStatus(403);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    }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    req.user = payload;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    next();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  } catch (e) { res.sendStatus(403); }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};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};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Segoe UI"/>
              </a:defRPr>
            </a:pPr>
            <a:r>
              <a:t>PHASE 5: FRONTEND VITE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80990" cy="475488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27632"/>
            <a:ext cx="4851806" cy="4425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Vite Project Initialization &amp; Dependencies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Vite React Client: </a:t>
            </a:r>
            <a:r>
              <a:rPr>
                <a:solidFill>
                  <a:srgbClr val="94A3B8"/>
                </a:solidFill>
              </a:rPr>
              <a:t>Creates a fast React project using `npm create vite@latest` for swift reloading.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Clean directory layout: </a:t>
            </a:r>
            <a:r>
              <a:rPr>
                <a:solidFill>
                  <a:srgbClr val="94A3B8"/>
                </a:solidFill>
              </a:rPr>
              <a:t>Organizes pages (dashboards, directories) and reusable components (sidebars, tables, topbars) neatly.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Styling system: </a:t>
            </a:r>
            <a:r>
              <a:rPr>
                <a:solidFill>
                  <a:srgbClr val="94A3B8"/>
                </a:solidFill>
              </a:rPr>
              <a:t>Custom custom styling using `index.css` to build clean layouts without heavy Tailwind dependencies.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Dynamic charting: </a:t>
            </a:r>
            <a:r>
              <a:rPr>
                <a:solidFill>
                  <a:srgbClr val="94A3B8"/>
                </a:solidFill>
              </a:rPr>
              <a:t>Installs Recharts library (`recharts`) to display analytical statistics dynamically.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463040"/>
            <a:ext cx="5180990" cy="4754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15430" y="1600200"/>
            <a:ext cx="490667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4D399"/>
                </a:solidFill>
                <a:latin typeface="Consolas"/>
              </a:defRPr>
            </a:pPr>
            <a:r>
              <a:t>// Frontend Directory Structure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# Initialize client folder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npx -y create-vite@latest school-frontend \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--template react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cd school-frontend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# Install production dependencies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npm install axios react-router-dom lucide-react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npm install recharts framer-motion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# Target Directory Layout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src/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├── components/       # Topbar.jsx, Sidebar.jsx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├── pages/            # Students.jsx, Fees.jsx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├── services/         # service.jsx (Axios API)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├── App.jsx           # Routing paths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└── main.jsx          # Entry point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Segoe UI"/>
              </a:defRPr>
            </a:pPr>
            <a:r>
              <a:t>PHASE 6: AXIOS SECURITY INTERCEPTOR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80990" cy="475488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27632"/>
            <a:ext cx="4851806" cy="4425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Axios Request &amp; Response Interceptors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Automatic Header Injection: </a:t>
            </a:r>
            <a:r>
              <a:rPr>
                <a:solidFill>
                  <a:srgbClr val="94A3B8"/>
                </a:solidFill>
              </a:rPr>
              <a:t>Requests check for stored JWT keys and inject them into headers, ensuring seamless validation.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Unified response handler: </a:t>
            </a:r>
            <a:r>
              <a:rPr>
                <a:solidFill>
                  <a:srgbClr val="94A3B8"/>
                </a:solidFill>
              </a:rPr>
              <a:t>Monitors incoming error payloads from backend routes.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Token Expiry redirects: </a:t>
            </a:r>
            <a:r>
              <a:rPr>
                <a:solidFill>
                  <a:srgbClr val="94A3B8"/>
                </a:solidFill>
              </a:rPr>
              <a:t>Detects HTTP 401 Unauthorized codes, clears local storage variables, and redirects users to the login screen.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Stateless storage sync: </a:t>
            </a:r>
            <a:r>
              <a:rPr>
                <a:solidFill>
                  <a:srgbClr val="94A3B8"/>
                </a:solidFill>
              </a:rPr>
              <a:t>Saves active user email, name, role, and avatar url inside localStorage upon successful login API responses.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463040"/>
            <a:ext cx="5180990" cy="4754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15430" y="1600200"/>
            <a:ext cx="490667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4D399"/>
                </a:solidFill>
                <a:latin typeface="Consolas"/>
              </a:defRPr>
            </a:pPr>
            <a:r>
              <a:t>// src/services/service.jsx (Axios API)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import axios from 'axios';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const API_URL = 'http://localhost:5000/api';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// Inject JWT token into every request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axios.interceptors.request.use(config =&gt; {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const token = localStorage.getItem('token');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if (token) {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  config.headers.Authorization = `Bearer ${token}`;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return config;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});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// Handle token expiration errors globally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axios.interceptors.response.use(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res =&gt; res,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error =&gt; {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  if (error.response?.status === 401) {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    localStorage.clear();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    window.location.href = '/login';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  return Promise.reject(error);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Segoe UI"/>
              </a:defRPr>
            </a:pPr>
            <a:r>
              <a:t>PHASE 7: DYNAMIC STUDENTS DIRECTORY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80990" cy="475488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27632"/>
            <a:ext cx="4851806" cy="4425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React Component Lifecycle &amp; API Triggers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Lifecycle hooks: </a:t>
            </a:r>
            <a:r>
              <a:rPr>
                <a:solidFill>
                  <a:srgbClr val="94A3B8"/>
                </a:solidFill>
              </a:rPr>
              <a:t>Uses React's `useEffect` hook to trigger `getStudents()` async actions on mount.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Local state bindings: </a:t>
            </a:r>
            <a:r>
              <a:rPr>
                <a:solidFill>
                  <a:srgbClr val="94A3B8"/>
                </a:solidFill>
              </a:rPr>
              <a:t>Stores student profiles in a local React state (`useState`) to automatically update table listings.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Loader overlays: </a:t>
            </a:r>
            <a:r>
              <a:rPr>
                <a:solidFill>
                  <a:srgbClr val="94A3B8"/>
                </a:solidFill>
              </a:rPr>
              <a:t>Includes loading overlays to indicate query executions during server delays.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Cascading actions: </a:t>
            </a:r>
            <a:r>
              <a:rPr>
                <a:solidFill>
                  <a:srgbClr val="94A3B8"/>
                </a:solidFill>
              </a:rPr>
              <a:t>Deletions trigger requests to `/api/students/:id`, and then update local array cache filtering out deleted IDs.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463040"/>
            <a:ext cx="5180990" cy="4754880"/>
          </a:xfrm>
          <a:prstGeom prst="roundRect">
            <a:avLst/>
          </a:prstGeom>
          <a:solidFill>
            <a:srgbClr val="161C2D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2862" y="1627632"/>
            <a:ext cx="485180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Live Web Portal Interface</a:t>
            </a:r>
          </a:p>
        </p:txBody>
      </p:sp>
      <p:pic>
        <p:nvPicPr>
          <p:cNvPr id="8" name="Picture 7" descr="students_17822924353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2862" y="2148840"/>
            <a:ext cx="4851806" cy="3337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42862" y="5577840"/>
            <a:ext cx="485180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i="1">
                <a:solidFill>
                  <a:srgbClr val="94A3B8"/>
                </a:solidFill>
                <a:latin typeface="Segoe UI"/>
              </a:defRPr>
            </a:pPr>
            <a:r>
              <a:t>Figure 7.1: Frontend Students Directory showing student rosters, status tags, class filters, and dynamic profile avatars.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Segoe UI"/>
              </a:defRPr>
            </a:pPr>
            <a:r>
              <a:t>PHASE 8: SUPER ADMIN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80990" cy="475488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27632"/>
            <a:ext cx="4851806" cy="4425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UI Visual Foundations &amp; Layouts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Vanilla CSS Variables: </a:t>
            </a:r>
            <a:r>
              <a:rPr>
                <a:solidFill>
                  <a:srgbClr val="94A3B8"/>
                </a:solidFill>
              </a:rPr>
              <a:t>Uses core theme color codes (`--perf-bg`, `--accent-color`) for dark background uniformity.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Layout Structure: </a:t>
            </a:r>
            <a:r>
              <a:rPr>
                <a:solidFill>
                  <a:srgbClr val="94A3B8"/>
                </a:solidFill>
              </a:rPr>
              <a:t>Wraps screens next to a responsive sidebar panel component mapping permissions routes.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Recharts Integration: </a:t>
            </a:r>
            <a:r>
              <a:rPr>
                <a:solidFill>
                  <a:srgbClr val="94A3B8"/>
                </a:solidFill>
              </a:rPr>
              <a:t>Plots statistics aggregates (student counts, teacher counts, income streams) using `&lt;AreaChart&gt;` and `&lt;BarChart&gt;`.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Interactive Cards: </a:t>
            </a:r>
            <a:r>
              <a:rPr>
                <a:solidFill>
                  <a:srgbClr val="94A3B8"/>
                </a:solidFill>
              </a:rPr>
              <a:t>Dashboard cards display stats with smooth hover transitions and custom Lucide icons.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463040"/>
            <a:ext cx="5180990" cy="4754880"/>
          </a:xfrm>
          <a:prstGeom prst="roundRect">
            <a:avLst/>
          </a:prstGeom>
          <a:solidFill>
            <a:srgbClr val="161C2D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2862" y="1627632"/>
            <a:ext cx="485180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Super Admin Central Control Panel</a:t>
            </a:r>
          </a:p>
        </p:txBody>
      </p:sp>
      <p:pic>
        <p:nvPicPr>
          <p:cNvPr id="8" name="Picture 7" descr="dashboard_17822923819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2862" y="2148840"/>
            <a:ext cx="4851806" cy="3337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42862" y="5577840"/>
            <a:ext cx="485180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i="1">
                <a:solidFill>
                  <a:srgbClr val="94A3B8"/>
                </a:solidFill>
                <a:latin typeface="Segoe UI"/>
              </a:defRPr>
            </a:pPr>
            <a:r>
              <a:t>Figure 8.1: Running Dashboard screen displaying real-time database counts, active notifications, and Cash flow graphs.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Segoe UI"/>
              </a:defRPr>
            </a:pPr>
            <a:r>
              <a:t>AI MODULE &amp; NEURAL ANALYTICS HUB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80990" cy="475488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27632"/>
            <a:ext cx="4851806" cy="4425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Implementing the AI Intelligence Hub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Model training simulator: </a:t>
            </a:r>
            <a:r>
              <a:rPr>
                <a:solidFill>
                  <a:srgbClr val="94A3B8"/>
                </a:solidFill>
              </a:rPr>
              <a:t>React handlers execute mock epoch training to recalculate coefficients and regression weights.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Audit Logging system: </a:t>
            </a:r>
            <a:r>
              <a:rPr>
                <a:solidFill>
                  <a:srgbClr val="94A3B8"/>
                </a:solidFill>
              </a:rPr>
              <a:t>Registers prediction occurrences, model deployments, and critical risk logs on state changes.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Student grading predictor: </a:t>
            </a:r>
            <a:r>
              <a:rPr>
                <a:solidFill>
                  <a:srgbClr val="94A3B8"/>
                </a:solidFill>
              </a:rPr>
              <a:t>Queries past assignment records, LMS clicks, and exam marks to flag academic failures.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Predictive analytics views: </a:t>
            </a:r>
            <a:r>
              <a:rPr>
                <a:solidFill>
                  <a:srgbClr val="94A3B8"/>
                </a:solidFill>
              </a:rPr>
              <a:t>Shows forecast lines and risk alert matrices using Recharts curves.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463040"/>
            <a:ext cx="5180990" cy="4754880"/>
          </a:xfrm>
          <a:prstGeom prst="roundRect">
            <a:avLst/>
          </a:prstGeom>
          <a:solidFill>
            <a:srgbClr val="161C2D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2862" y="1627632"/>
            <a:ext cx="485180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AI Neural Performance Hub Page</a:t>
            </a:r>
          </a:p>
        </p:txBody>
      </p:sp>
      <p:pic>
        <p:nvPicPr>
          <p:cNvPr id="8" name="Picture 7" descr="ai_hub_17822924084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2862" y="2148840"/>
            <a:ext cx="4851806" cy="3337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42862" y="5577840"/>
            <a:ext cx="485180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i="1">
                <a:solidFill>
                  <a:srgbClr val="94A3B8"/>
                </a:solidFill>
                <a:latin typeface="Segoe UI"/>
              </a:defRPr>
            </a:pPr>
            <a:r>
              <a:t>Figure 9.1: Live AI Performance Hub interface displaying active modeling statistics, audit log streams, and training epoch gauges.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Segoe UI"/>
              </a:defRPr>
            </a:pPr>
            <a:r>
              <a:t>PHASE 9: SECURE LOGIN GATEWAY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80990" cy="475488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27632"/>
            <a:ext cx="4851806" cy="4425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Authentication &amp; Sandbox Access Controls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Role Tabs selection: </a:t>
            </a:r>
            <a:r>
              <a:rPr>
                <a:solidFill>
                  <a:srgbClr val="94A3B8"/>
                </a:solidFill>
              </a:rPr>
              <a:t>Users toggle between Administrator, Faculty, Student, and Parent logins to set current states.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JWT API validation: </a:t>
            </a:r>
            <a:r>
              <a:rPr>
                <a:solidFill>
                  <a:srgbClr val="94A3B8"/>
                </a:solidFill>
              </a:rPr>
              <a:t>Submits credentials to backend `/api/login` and triggers localStorage tokens caching.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Built-in Demo Bypass: </a:t>
            </a:r>
            <a:r>
              <a:rPr>
                <a:solidFill>
                  <a:srgbClr val="94A3B8"/>
                </a:solidFill>
              </a:rPr>
              <a:t>Allows sandbox access for evaluators. Matches demo emails (e.g. admin@school.com) and password 'demo123' if local MySQL services are disconnected.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Interactive toast notifications: </a:t>
            </a:r>
            <a:r>
              <a:rPr>
                <a:solidFill>
                  <a:srgbClr val="94A3B8"/>
                </a:solidFill>
              </a:rPr>
              <a:t>Provides floating alerts with Framer Motion animations to indicate success or invalid credentials.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463040"/>
            <a:ext cx="5180990" cy="4754880"/>
          </a:xfrm>
          <a:prstGeom prst="roundRect">
            <a:avLst/>
          </a:prstGeom>
          <a:solidFill>
            <a:srgbClr val="161C2D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2862" y="1627632"/>
            <a:ext cx="485180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Login Portal Web Interface</a:t>
            </a:r>
          </a:p>
        </p:txBody>
      </p:sp>
      <p:pic>
        <p:nvPicPr>
          <p:cNvPr id="8" name="Picture 7" descr="login_page_17822923181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2862" y="2148840"/>
            <a:ext cx="4851806" cy="3337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42862" y="5577840"/>
            <a:ext cx="485180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i="1">
                <a:solidFill>
                  <a:srgbClr val="94A3B8"/>
                </a:solidFill>
                <a:latin typeface="Segoe UI"/>
              </a:defRPr>
            </a:pPr>
            <a:r>
              <a:t>Figure 10.1: Widescreen Login screen with role selection tabs, input filters, and active session verification cards.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Segoe UI"/>
              </a:defRPr>
            </a:pPr>
            <a:r>
              <a:t>TESTING &amp; QUALITY ASSURANCE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32073" cy="475488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27632"/>
            <a:ext cx="3002889" cy="4425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Postman API Tests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Endpoint verification: </a:t>
            </a:r>
            <a:r>
              <a:rPr>
                <a:solidFill>
                  <a:srgbClr val="94A3B8"/>
                </a:solidFill>
              </a:rPr>
              <a:t>Tests REST payloads for CRUD actions (students, notices, transport).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Status code validation: </a:t>
            </a:r>
            <a:r>
              <a:rPr>
                <a:solidFill>
                  <a:srgbClr val="94A3B8"/>
                </a:solidFill>
              </a:rPr>
              <a:t>Ensures unauthorized actions fail with 401/403 errors, and correct inputs return 200 OK.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JSON structures audit: </a:t>
            </a:r>
            <a:r>
              <a:rPr>
                <a:solidFill>
                  <a:srgbClr val="94A3B8"/>
                </a:solidFill>
              </a:rPr>
              <a:t>Checks API response structures to match client interfaces.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9353" y="1463040"/>
            <a:ext cx="3332073" cy="475488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3945" y="1627632"/>
            <a:ext cx="3002889" cy="4425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Jira Project Tracking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Agile sprint boards: </a:t>
            </a:r>
            <a:r>
              <a:rPr>
                <a:solidFill>
                  <a:srgbClr val="94A3B8"/>
                </a:solidFill>
              </a:rPr>
              <a:t>Creates epics (Authentication, Academics, Financials) to track development progress.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Task backlogs: </a:t>
            </a:r>
            <a:r>
              <a:rPr>
                <a:solidFill>
                  <a:srgbClr val="94A3B8"/>
                </a:solidFill>
              </a:rPr>
              <a:t>Logs feature requirements as stories and tracks bugs systematically.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QA workflows: </a:t>
            </a:r>
            <a:r>
              <a:rPr>
                <a:solidFill>
                  <a:srgbClr val="94A3B8"/>
                </a:solidFill>
              </a:rPr>
              <a:t>Moves issues from backlog to 'In Progress', 'Testing', and 'Done' columns.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7187" y="1463040"/>
            <a:ext cx="3332073" cy="475488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91779" y="1627632"/>
            <a:ext cx="3002889" cy="4425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MySQL Integrity Auditing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Relationship checks: </a:t>
            </a:r>
            <a:r>
              <a:rPr>
                <a:solidFill>
                  <a:srgbClr val="94A3B8"/>
                </a:solidFill>
              </a:rPr>
              <a:t>Ensures database tables match foreign key assignments correctly.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Null parameters check: </a:t>
            </a:r>
            <a:r>
              <a:rPr>
                <a:solidFill>
                  <a:srgbClr val="94A3B8"/>
                </a:solidFill>
              </a:rPr>
              <a:t>Validates field configurations (e.g. dob, phone) fail safely when null inputs are passed.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Cascade validations: </a:t>
            </a:r>
            <a:r>
              <a:rPr>
                <a:solidFill>
                  <a:srgbClr val="94A3B8"/>
                </a:solidFill>
              </a:rPr>
              <a:t>Tests orphan records deletions on parent table modifications.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Segoe UI"/>
              </a:defRPr>
            </a:pPr>
            <a:r>
              <a:t>DEVELOPER SETUP &amp; LAUNCH GUIDE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80990" cy="475488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27632"/>
            <a:ext cx="4851806" cy="4425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Local System Setup Steps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1. Start Database Server: </a:t>
            </a:r>
            <a:r>
              <a:rPr>
                <a:solidFill>
                  <a:srgbClr val="94A3B8"/>
                </a:solidFill>
              </a:rPr>
              <a:t>Launch XAMPP/Laragon, start Apache &amp; MySQL. Ensure port 3306 is open.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2. Configure Backend: </a:t>
            </a:r>
            <a:r>
              <a:rPr>
                <a:solidFill>
                  <a:srgbClr val="94A3B8"/>
                </a:solidFill>
              </a:rPr>
              <a:t>Navigate to backend folder, create .env file, specify database credentials, and install dependencies (`npm install`).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3. Boot API Gateway: </a:t>
            </a:r>
            <a:r>
              <a:rPr>
                <a:solidFill>
                  <a:srgbClr val="94A3B8"/>
                </a:solidFill>
              </a:rPr>
              <a:t>Run backend (`npm run dev` / `node server.js`). Auto-seeder initializes tables and mock records on port 5000.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4. Build Frontend: </a:t>
            </a:r>
            <a:r>
              <a:rPr>
                <a:solidFill>
                  <a:srgbClr val="94A3B8"/>
                </a:solidFill>
              </a:rPr>
              <a:t>Navigate to frontend, run `npm install`, then start client dev server (`npm run dev`).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1F5F9"/>
                </a:solidFill>
              </a:rPr>
              <a:t>5. Access Application: </a:t>
            </a:r>
            <a:r>
              <a:rPr>
                <a:solidFill>
                  <a:srgbClr val="94A3B8"/>
                </a:solidFill>
              </a:rPr>
              <a:t>Open browser to http://localhost:5173. Log in with admin@school.com (password: demo123).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463040"/>
            <a:ext cx="5180990" cy="4754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15430" y="1600200"/>
            <a:ext cx="490667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4D399"/>
                </a:solidFill>
                <a:latin typeface="Consolas"/>
              </a:defRPr>
            </a:pPr>
            <a:r>
              <a:t>// Local Config Files (.env)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# backend/.env - Environment variables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PORT=5000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DB_HOST=127.0.0.1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DB_USER=root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DB_PASSWORD=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DB_NAME=school_db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JWT_SECRET=supersecretkey123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# frontend/.env - Client configuration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VITE_API_URL=http://localhost:5000/api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# Quick check commands in terminal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cd school-management-backend &amp;&amp; npm run dev</a:t>
            </a:r>
          </a:p>
          <a:p>
            <a:pPr>
              <a:spcAft>
                <a:spcPts val="100"/>
              </a:spcAft>
              <a:defRPr sz="850">
                <a:solidFill>
                  <a:srgbClr val="E5E7EB"/>
                </a:solidFill>
                <a:latin typeface="Consolas"/>
              </a:defRPr>
            </a:pPr>
            <a:r>
              <a:t>cd school-management-frontend &amp;&amp; npm run dev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