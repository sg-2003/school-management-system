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301" r:id="rId52"/>
    <p:sldId id="302" r:id="rId53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1188720" cy="1188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152144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914400"/>
            <a:ext cx="868680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EduPro Elite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084831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0" i="0">
                <a:solidFill>
                  <a:srgbClr val="DBEAFE"/>
                </a:solidFill>
                <a:latin typeface="Calibri"/>
              </a:rPr>
              <a:t>School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78892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AFC8EB"/>
                </a:solidFill>
                <a:latin typeface="Calibri"/>
              </a:rPr>
              <a:t>A complete digital platform to manage every aspect of school administration —
students, teachers, fees, attendance, exams, transport, hostel, library and AI analytics.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3767328"/>
            <a:ext cx="86868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11680" y="3886200"/>
            <a:ext cx="4160520" cy="2286000"/>
          </a:xfrm>
          <a:prstGeom prst="roundRect">
            <a:avLst/>
          </a:prstGeom>
          <a:solidFill>
            <a:srgbClr val="142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4005072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TEAM MEMBERS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4370832"/>
            <a:ext cx="384048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Ankit Kumar Dubey  (2211108)
Sukumar Gope  (2211157)
Ravikant Mahto  (2211135)
Aryan Kumar  (2211146)
Abhijeet K. Prajapati  (2211102)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886200"/>
            <a:ext cx="4251960" cy="2286000"/>
          </a:xfrm>
          <a:prstGeom prst="roundRect">
            <a:avLst/>
          </a:prstGeom>
          <a:solidFill>
            <a:srgbClr val="142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005072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PROJECT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370832"/>
            <a:ext cx="3931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Mr. Sumeet Kumar
Assistant Professor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166360"/>
            <a:ext cx="3931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Mr. Awadhesh Kumar
Head of Department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6217920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829BC8"/>
                </a:solidFill>
                <a:latin typeface="Calibri"/>
              </a:rPr>
              <a:t>UCET, Vinoba Bhave University  |  B.Tech Information Technology  |  Batch 2022–2026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What this presentation covers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37160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D2350"/>
                </a:solidFill>
                <a:latin typeface="Calibri"/>
              </a:rPr>
              <a:t>Introduction &amp; 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40817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Slides 3–5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29844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29844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29844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137160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D2350"/>
                </a:solidFill>
                <a:latin typeface="Calibri"/>
              </a:rPr>
              <a:t>Our Solution — EduPro Elite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8208" y="140817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Slides 6–7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84708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184708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84708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192024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D2350"/>
                </a:solidFill>
                <a:latin typeface="Calibri"/>
              </a:rPr>
              <a:t>System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95681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Slides 8–9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184708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6208" y="184708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184708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192024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D2350"/>
                </a:solidFill>
                <a:latin typeface="Calibri"/>
              </a:rPr>
              <a:t>Login &amp; Role-Based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8208" y="195681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Slides 10–11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39572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239572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39572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246888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D2350"/>
                </a:solidFill>
                <a:latin typeface="Calibri"/>
              </a:rPr>
              <a:t>Admin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250545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Slides 12–13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6208" y="239572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239572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239572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0568" y="246888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D2350"/>
                </a:solidFill>
                <a:latin typeface="Calibri"/>
              </a:rPr>
              <a:t>Student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08208" y="250545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Slides 14–15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294436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294436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294436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301752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D2350"/>
                </a:solidFill>
                <a:latin typeface="Calibri"/>
              </a:rPr>
              <a:t>Teacher &amp; Staff Management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305409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Slides 16–17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36208" y="294436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36208" y="294436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36208" y="294436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0568" y="301752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D2350"/>
                </a:solidFill>
                <a:latin typeface="Calibri"/>
              </a:rPr>
              <a:t>Fee Management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08208" y="305409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Slides 18–19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349300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349300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49300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" y="356616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D2350"/>
                </a:solidFill>
                <a:latin typeface="Calibri"/>
              </a:rPr>
              <a:t>Attendance Tracking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0" y="360273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Slides 20–21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36208" y="349300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36208" y="349300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36208" y="349300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30568" y="356616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D2350"/>
                </a:solidFill>
                <a:latin typeface="Calibri"/>
              </a:rPr>
              <a:t>Exams &amp; Timetable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08208" y="360273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Slides 22–23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404164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7200" y="404164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404164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" y="411480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D2350"/>
                </a:solidFill>
                <a:latin typeface="Calibri"/>
              </a:rPr>
              <a:t>Library &amp; Hostel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0" y="415137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Slides 24–25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36208" y="404164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36208" y="404164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36208" y="404164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30568" y="411480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0D2350"/>
                </a:solidFill>
                <a:latin typeface="Calibri"/>
              </a:rPr>
              <a:t>Transport Management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08208" y="415137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Slides 26–27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57200" y="459028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57200" y="459028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459028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560" y="466344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>
                <a:solidFill>
                  <a:srgbClr val="0D2350"/>
                </a:solidFill>
                <a:latin typeface="Calibri"/>
              </a:rPr>
              <a:t>Learning Management System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0" y="470001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Slides 33–34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36208" y="459028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36208" y="459028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36208" y="459028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30568" y="466344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>
                <a:solidFill>
                  <a:srgbClr val="0D2350"/>
                </a:solidFill>
                <a:latin typeface="Calibri"/>
              </a:rPr>
              <a:t>AI Analytics Hub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808208" y="470001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Slides 35–37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7200" y="513892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57200" y="513892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513892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51560" y="521208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>
                <a:solidFill>
                  <a:srgbClr val="0D2350"/>
                </a:solidFill>
                <a:latin typeface="Calibri"/>
              </a:rPr>
              <a:t>Reports &amp; Notices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29200" y="524865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Slides 38–40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236208" y="513892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236208" y="513892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36208" y="513892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30568" y="521208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>
                <a:solidFill>
                  <a:srgbClr val="0D2350"/>
                </a:solidFill>
                <a:latin typeface="Calibri"/>
              </a:rPr>
              <a:t>Technology Stack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808208" y="524865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Slides 41–42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57200" y="568756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57200" y="568756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7200" y="568756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51560" y="576072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>
                <a:solidFill>
                  <a:srgbClr val="0D2350"/>
                </a:solidFill>
                <a:latin typeface="Calibri"/>
              </a:rPr>
              <a:t>Results &amp; Achievements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29200" y="579729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Slides 43–44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236208" y="5687568"/>
            <a:ext cx="557784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236208" y="568756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236208" y="5687568"/>
            <a:ext cx="5029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30568" y="576072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>
                <a:solidFill>
                  <a:srgbClr val="0D2350"/>
                </a:solidFill>
                <a:latin typeface="Calibri"/>
              </a:rPr>
              <a:t>Future Scope &amp; Conclusion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808208" y="5797296"/>
            <a:ext cx="914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Slides 45–46</a:t>
            </a:r>
          </a:p>
        </p:txBody>
      </p:sp>
      <p:sp>
        <p:nvSpPr>
          <p:cNvPr id="96" name="Oval 95"/>
          <p:cNvSpPr/>
          <p:nvPr/>
        </p:nvSpPr>
        <p:spPr>
          <a:xfrm>
            <a:off x="457200" y="6236208"/>
            <a:ext cx="5577840" cy="475488"/>
          </a:xfrm>
          <a:prstGeom prst="ellipse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57200" y="6236208"/>
            <a:ext cx="502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57200" y="6236208"/>
            <a:ext cx="502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51560" y="6309360"/>
            <a:ext cx="42976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0D2350"/>
                </a:solidFill>
                <a:latin typeface="Calibri"/>
              </a:rPr>
              <a:t>Thank You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029200" y="6345936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Slide 47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0" b="1" i="0">
                <a:solidFill>
                  <a:srgbClr val="193264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377440"/>
            <a:ext cx="7772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Introduction &amp;
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11480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DBEAFE"/>
                </a:solidFill>
                <a:latin typeface="Calibri"/>
              </a:rPr>
              <a:t>Understanding the challenges schools face without digital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The Problems in Traditional Schools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365760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09728" cy="1783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99032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50" b="1" i="0">
                <a:solidFill>
                  <a:srgbClr val="0D2350"/>
                </a:solidFill>
                <a:latin typeface="Calibri"/>
              </a:rPr>
              <a:t>Paper Registers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56232"/>
            <a:ext cx="336499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Attendance and marks are written by hand — easy to lose, tamper, or misplace.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61872"/>
            <a:ext cx="365760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261872"/>
            <a:ext cx="109728" cy="1783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399032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50" b="1" i="0">
                <a:solidFill>
                  <a:srgbClr val="0D2350"/>
                </a:solidFill>
                <a:latin typeface="Calibri"/>
              </a:rPr>
              <a:t>Manual Fee Receipts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1856232"/>
            <a:ext cx="336499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Fee collection tracked in notebooks — nearly impossible to audit or generate reports.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61872"/>
            <a:ext cx="365760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261872"/>
            <a:ext cx="109728" cy="1783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399032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50" b="1" i="0">
                <a:solidFill>
                  <a:srgbClr val="0D2350"/>
                </a:solidFill>
                <a:latin typeface="Calibri"/>
              </a:rPr>
              <a:t>Poor Communication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856232"/>
            <a:ext cx="336499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Parents receive no real-time updates about their child's attendance, marks, or notices.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46120"/>
            <a:ext cx="365760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246120"/>
            <a:ext cx="109728" cy="1783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38328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50" b="1" i="0">
                <a:solidFill>
                  <a:srgbClr val="0D2350"/>
                </a:solidFill>
                <a:latin typeface="Calibri"/>
              </a:rPr>
              <a:t>No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840480"/>
            <a:ext cx="336499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Principals cannot see school-wide insights without manually compiling data from different sources.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246120"/>
            <a:ext cx="365760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246120"/>
            <a:ext cx="109728" cy="1783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8848" y="338328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50" b="1" i="0">
                <a:solidFill>
                  <a:srgbClr val="0D2350"/>
                </a:solidFill>
                <a:latin typeface="Calibri"/>
              </a:rPr>
              <a:t>Untracked Transport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3840480"/>
            <a:ext cx="336499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Bus routes and driver assignments managed through informal phone calls with no record.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246120"/>
            <a:ext cx="365760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246120"/>
            <a:ext cx="109728" cy="1783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9328" y="338328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50" b="1" i="0">
                <a:solidFill>
                  <a:srgbClr val="0D2350"/>
                </a:solidFill>
                <a:latin typeface="Calibri"/>
              </a:rPr>
              <a:t>Library Chaos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3840480"/>
            <a:ext cx="336499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Book issue/return records are maintained manually, causing frequent losses and no accountability.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What we set out to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5394960" cy="51206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91440" cy="5120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08176"/>
            <a:ext cx="510235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Primary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65376"/>
            <a:ext cx="5102352" cy="4462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Digitize records: </a:t>
            </a:r>
            <a:r>
              <a:rPr sz="1350">
                <a:solidFill>
                  <a:srgbClr val="374151"/>
                </a:solidFill>
                <a:latin typeface="Calibri"/>
              </a:rPr>
              <a:t>Replace all paper-based systems with a secure digital database.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Centralize data: </a:t>
            </a:r>
            <a:r>
              <a:rPr sz="1350">
                <a:solidFill>
                  <a:srgbClr val="374151"/>
                </a:solidFill>
                <a:latin typeface="Calibri"/>
              </a:rPr>
              <a:t>One platform for students, teachers, fees, exams, library, hostel, transport.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Role-based access: </a:t>
            </a:r>
            <a:r>
              <a:rPr sz="1350">
                <a:solidFill>
                  <a:srgbClr val="374151"/>
                </a:solidFill>
                <a:latin typeface="Calibri"/>
              </a:rPr>
              <a:t>Different portals for Admin, Teacher, Parent, and Student.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Real-time updates: </a:t>
            </a:r>
            <a:r>
              <a:rPr sz="1350">
                <a:solidFill>
                  <a:srgbClr val="374151"/>
                </a:solidFill>
                <a:latin typeface="Calibri"/>
              </a:rPr>
              <a:t>Live dashboards that reflect actual data from the database instantly.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AI predictions: </a:t>
            </a:r>
            <a:r>
              <a:rPr sz="1350">
                <a:solidFill>
                  <a:srgbClr val="374151"/>
                </a:solidFill>
                <a:latin typeface="Calibri"/>
              </a:rPr>
              <a:t>Predict student performance and flag at-risk students early.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298448"/>
            <a:ext cx="5577840" cy="237744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44768" y="1298448"/>
            <a:ext cx="91440" cy="2377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1408176"/>
            <a:ext cx="528523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Target Beneficiaries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1865376"/>
            <a:ext cx="5285232" cy="1719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School Administrators: </a:t>
            </a:r>
            <a:r>
              <a:rPr sz="1350">
                <a:solidFill>
                  <a:srgbClr val="374151"/>
                </a:solidFill>
                <a:latin typeface="Calibri"/>
              </a:rPr>
              <a:t>Full control over the entire institution from one screen.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Teachers: </a:t>
            </a:r>
            <a:r>
              <a:rPr sz="1350">
                <a:solidFill>
                  <a:srgbClr val="374151"/>
                </a:solidFill>
                <a:latin typeface="Calibri"/>
              </a:rPr>
              <a:t>Mark attendance, upload marks, and view class timetables.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Parents: </a:t>
            </a:r>
            <a:r>
              <a:rPr sz="1350">
                <a:solidFill>
                  <a:srgbClr val="374151"/>
                </a:solidFill>
                <a:latin typeface="Calibri"/>
              </a:rPr>
              <a:t>Monitor child's performance, fees, attendance in real-time.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Students: </a:t>
            </a:r>
            <a:r>
              <a:rPr sz="1350">
                <a:solidFill>
                  <a:srgbClr val="374151"/>
                </a:solidFill>
                <a:latin typeface="Calibri"/>
              </a:rPr>
              <a:t>View own marks, timetable, library books and notices.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858768"/>
            <a:ext cx="5577840" cy="25603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3858768"/>
            <a:ext cx="91440" cy="2560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3968496"/>
            <a:ext cx="528523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Scope of the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4425696"/>
            <a:ext cx="5285232" cy="1901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16 functional modules: </a:t>
            </a:r>
            <a:r>
              <a:rPr sz="1350">
                <a:solidFill>
                  <a:srgbClr val="374151"/>
                </a:solidFill>
                <a:latin typeface="Calibri"/>
              </a:rPr>
              <a:t>Covering every aspect of school management.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4 user roles: </a:t>
            </a:r>
            <a:r>
              <a:rPr sz="1350">
                <a:solidFill>
                  <a:srgbClr val="374151"/>
                </a:solidFill>
                <a:latin typeface="Calibri"/>
              </a:rPr>
              <a:t>Each role sees only what they are authorised to.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Web-based: </a:t>
            </a:r>
            <a:r>
              <a:rPr sz="1350">
                <a:solidFill>
                  <a:srgbClr val="374151"/>
                </a:solidFill>
                <a:latin typeface="Calibri"/>
              </a:rPr>
              <a:t>Works on any device with a browser — no installation needed.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Expandable: </a:t>
            </a:r>
            <a:r>
              <a:rPr sz="1350">
                <a:solidFill>
                  <a:srgbClr val="374151"/>
                </a:solidFill>
                <a:latin typeface="Calibri"/>
              </a:rPr>
              <a:t>New modules can be added without breaking existing features.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0" b="1" i="0">
                <a:solidFill>
                  <a:srgbClr val="0A3C32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77724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Our Solution
EduPro Elite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38912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96E6C8"/>
                </a:solidFill>
                <a:latin typeface="Calibri"/>
              </a:rPr>
              <a:t>A full-stack web application that digitizes every corner of school administration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EduPro Elite — System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80560" y="1463040"/>
            <a:ext cx="3200400" cy="1417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572768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EduPro Elite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2075688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DBEAFE"/>
                </a:solidFill>
                <a:latin typeface="Calibri"/>
              </a:rPr>
              <a:t>School Management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98448"/>
            <a:ext cx="3200400" cy="59436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08176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0D2350"/>
                </a:solidFill>
                <a:latin typeface="Calibri"/>
              </a:rPr>
              <a:t>Students &amp; Guardians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02536"/>
            <a:ext cx="3200400" cy="59436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12264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0D2350"/>
                </a:solidFill>
                <a:latin typeface="Calibri"/>
              </a:rPr>
              <a:t>Teachers &amp; Staff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06624"/>
            <a:ext cx="3200400" cy="59436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816352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0D2350"/>
                </a:solidFill>
                <a:latin typeface="Calibri"/>
              </a:rPr>
              <a:t>Fee Management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410712"/>
            <a:ext cx="3200400" cy="59436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520440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0D2350"/>
                </a:solidFill>
                <a:latin typeface="Calibri"/>
              </a:rPr>
              <a:t>Attendance Tracking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14800"/>
            <a:ext cx="3200400" cy="59436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224528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0D2350"/>
                </a:solidFill>
                <a:latin typeface="Calibri"/>
              </a:rPr>
              <a:t>Notices &amp; Communication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1298448"/>
            <a:ext cx="3200400" cy="594360"/>
          </a:xfrm>
          <a:prstGeom prst="roundRect">
            <a:avLst/>
          </a:prstGeom>
          <a:solidFill>
            <a:srgbClr val="D1FAE5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1408176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0D2350"/>
                </a:solidFill>
                <a:latin typeface="Calibri"/>
              </a:rPr>
              <a:t>Exams &amp; Timetable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2002536"/>
            <a:ext cx="3200400" cy="594360"/>
          </a:xfrm>
          <a:prstGeom prst="roundRect">
            <a:avLst/>
          </a:prstGeom>
          <a:solidFill>
            <a:srgbClr val="D1FAE5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2112264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0D2350"/>
                </a:solidFill>
                <a:latin typeface="Calibri"/>
              </a:rPr>
              <a:t>Library System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2706624"/>
            <a:ext cx="3200400" cy="594360"/>
          </a:xfrm>
          <a:prstGeom prst="roundRect">
            <a:avLst/>
          </a:prstGeom>
          <a:solidFill>
            <a:srgbClr val="D1FAE5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1080" y="2816352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0D2350"/>
                </a:solidFill>
                <a:latin typeface="Calibri"/>
              </a:rPr>
              <a:t>Hostel Management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3410712"/>
            <a:ext cx="3200400" cy="594360"/>
          </a:xfrm>
          <a:prstGeom prst="roundRect">
            <a:avLst/>
          </a:prstGeom>
          <a:solidFill>
            <a:srgbClr val="D1FAE5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3520440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0D2350"/>
                </a:solidFill>
                <a:latin typeface="Calibri"/>
              </a:rPr>
              <a:t>Transport &amp; Routes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20" y="4114800"/>
            <a:ext cx="3200400" cy="594360"/>
          </a:xfrm>
          <a:prstGeom prst="roundRect">
            <a:avLst/>
          </a:prstGeom>
          <a:solidFill>
            <a:srgbClr val="D1FAE5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1080" y="4224528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 i="0">
                <a:solidFill>
                  <a:srgbClr val="0D2350"/>
                </a:solidFill>
                <a:latin typeface="Calibri"/>
              </a:rPr>
              <a:t>AI Analytics Hub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236208"/>
            <a:ext cx="11274552" cy="47548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2910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AI-Powered Predictions  |  Real-Time Analytics  |  Institutional Health Monitoring  |  Risk Alerts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0" b="1" i="0">
                <a:solidFill>
                  <a:srgbClr val="50230A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7772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System
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20624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FFEDD5"/>
                </a:solidFill>
                <a:latin typeface="Calibri"/>
              </a:rPr>
              <a:t>How the three layers work together to power the 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3-Layer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How the application is structured end-to-end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3566160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09728" cy="4892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658368" cy="6583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Layer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1499616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50" b="1" i="0">
                <a:solidFill>
                  <a:srgbClr val="0D2350"/>
                </a:solidFill>
                <a:latin typeface="Calibri"/>
              </a:rPr>
              <a:t>Frontend (Browser)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31136"/>
            <a:ext cx="32552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2563EB"/>
                </a:solidFill>
                <a:latin typeface="Calibri"/>
              </a:rPr>
              <a:t>React.js + Vite + Axios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651760"/>
            <a:ext cx="3255264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715768"/>
            <a:ext cx="3255264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350">
                <a:solidFill>
                  <a:srgbClr val="2563EB"/>
                </a:solidFill>
                <a:latin typeface="Calibri"/>
              </a:rPr>
              <a:t>→  </a:t>
            </a:r>
            <a:r>
              <a:rPr sz="1350">
                <a:solidFill>
                  <a:srgbClr val="374151"/>
                </a:solidFill>
                <a:latin typeface="Calibri"/>
              </a:rPr>
              <a:t>User opens the website in any browser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2563EB"/>
                </a:solidFill>
                <a:latin typeface="Calibri"/>
              </a:rPr>
              <a:t>→  </a:t>
            </a:r>
            <a:r>
              <a:rPr sz="1350">
                <a:solidFill>
                  <a:srgbClr val="374151"/>
                </a:solidFill>
                <a:latin typeface="Calibri"/>
              </a:rPr>
              <a:t>Pages built with reusable React components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2563EB"/>
                </a:solidFill>
                <a:latin typeface="Calibri"/>
              </a:rPr>
              <a:t>→  </a:t>
            </a:r>
            <a:r>
              <a:rPr sz="1350">
                <a:solidFill>
                  <a:srgbClr val="374151"/>
                </a:solidFill>
                <a:latin typeface="Calibri"/>
              </a:rPr>
              <a:t>Axios sends API requests to the backend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2563EB"/>
                </a:solidFill>
                <a:latin typeface="Calibri"/>
              </a:rPr>
              <a:t>→  </a:t>
            </a:r>
            <a:r>
              <a:rPr sz="1350">
                <a:solidFill>
                  <a:srgbClr val="374151"/>
                </a:solidFill>
                <a:latin typeface="Calibri"/>
              </a:rPr>
              <a:t>JWT tokens stored in localStorage for auth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2563EB"/>
                </a:solidFill>
                <a:latin typeface="Calibri"/>
              </a:rPr>
              <a:t>→  </a:t>
            </a:r>
            <a:r>
              <a:rPr sz="1350">
                <a:solidFill>
                  <a:srgbClr val="374151"/>
                </a:solidFill>
                <a:latin typeface="Calibri"/>
              </a:rPr>
              <a:t>Runs at: http://localhost:5173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1298448"/>
            <a:ext cx="3566160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4528" y="1298448"/>
            <a:ext cx="109728" cy="48920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25696" y="1481328"/>
            <a:ext cx="658368" cy="65836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25696" y="148132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Layer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1499616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50" b="1" i="0">
                <a:solidFill>
                  <a:srgbClr val="0D2350"/>
                </a:solidFill>
                <a:latin typeface="Calibri"/>
              </a:rPr>
              <a:t>Backend (API Server)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2231136"/>
            <a:ext cx="32552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EA580C"/>
                </a:solidFill>
                <a:latin typeface="Calibri"/>
              </a:rPr>
              <a:t>Node.js + Express.js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25696" y="2651760"/>
            <a:ext cx="3255264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5696" y="2715768"/>
            <a:ext cx="3255264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350">
                <a:solidFill>
                  <a:srgbClr val="EA580C"/>
                </a:solidFill>
                <a:latin typeface="Calibri"/>
              </a:rPr>
              <a:t>→  </a:t>
            </a:r>
            <a:r>
              <a:rPr sz="1350">
                <a:solidFill>
                  <a:srgbClr val="374151"/>
                </a:solidFill>
                <a:latin typeface="Calibri"/>
              </a:rPr>
              <a:t>Receives HTTP requests from the frontend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EA580C"/>
                </a:solidFill>
                <a:latin typeface="Calibri"/>
              </a:rPr>
              <a:t>→  </a:t>
            </a:r>
            <a:r>
              <a:rPr sz="1350">
                <a:solidFill>
                  <a:srgbClr val="374151"/>
                </a:solidFill>
                <a:latin typeface="Calibri"/>
              </a:rPr>
              <a:t>Validates JWT tokens before processing data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EA580C"/>
                </a:solidFill>
                <a:latin typeface="Calibri"/>
              </a:rPr>
              <a:t>→  </a:t>
            </a:r>
            <a:r>
              <a:rPr sz="1350">
                <a:solidFill>
                  <a:srgbClr val="374151"/>
                </a:solidFill>
                <a:latin typeface="Calibri"/>
              </a:rPr>
              <a:t>Runs SQL queries on the MySQL database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EA580C"/>
                </a:solidFill>
                <a:latin typeface="Calibri"/>
              </a:rPr>
              <a:t>→  </a:t>
            </a:r>
            <a:r>
              <a:rPr sz="1350">
                <a:solidFill>
                  <a:srgbClr val="374151"/>
                </a:solidFill>
                <a:latin typeface="Calibri"/>
              </a:rPr>
              <a:t>Returns JSON responses to the browser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EA580C"/>
                </a:solidFill>
                <a:latin typeface="Calibri"/>
              </a:rPr>
              <a:t>→  </a:t>
            </a:r>
            <a:r>
              <a:rPr sz="1350">
                <a:solidFill>
                  <a:srgbClr val="374151"/>
                </a:solidFill>
                <a:latin typeface="Calibri"/>
              </a:rPr>
              <a:t>Runs at: http://localhost:5000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91856" y="1298448"/>
            <a:ext cx="3566160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91856" y="1298448"/>
            <a:ext cx="109728" cy="4892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93024" y="1481328"/>
            <a:ext cx="658368" cy="65836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3024" y="148132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Layer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1499616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50" b="1" i="0">
                <a:solidFill>
                  <a:srgbClr val="0D2350"/>
                </a:solidFill>
                <a:latin typeface="Calibri"/>
              </a:rPr>
              <a:t>Database (Storage)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4" y="2231136"/>
            <a:ext cx="32552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059669"/>
                </a:solidFill>
                <a:latin typeface="Calibri"/>
              </a:rPr>
              <a:t>MySQL via XAMPP / Laragon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93024" y="2651760"/>
            <a:ext cx="3255264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93024" y="2715768"/>
            <a:ext cx="3255264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350">
                <a:solidFill>
                  <a:srgbClr val="059669"/>
                </a:solidFill>
                <a:latin typeface="Calibri"/>
              </a:rPr>
              <a:t>→  </a:t>
            </a:r>
            <a:r>
              <a:rPr sz="1350">
                <a:solidFill>
                  <a:srgbClr val="374151"/>
                </a:solidFill>
                <a:latin typeface="Calibri"/>
              </a:rPr>
              <a:t>Permanently stores all school data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059669"/>
                </a:solidFill>
                <a:latin typeface="Calibri"/>
              </a:rPr>
              <a:t>→  </a:t>
            </a:r>
            <a:r>
              <a:rPr sz="1350">
                <a:solidFill>
                  <a:srgbClr val="374151"/>
                </a:solidFill>
                <a:latin typeface="Calibri"/>
              </a:rPr>
              <a:t>Tables: students, teachers, fees, attendance...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059669"/>
                </a:solidFill>
                <a:latin typeface="Calibri"/>
              </a:rPr>
              <a:t>→  </a:t>
            </a:r>
            <a:r>
              <a:rPr sz="1350">
                <a:solidFill>
                  <a:srgbClr val="374151"/>
                </a:solidFill>
                <a:latin typeface="Calibri"/>
              </a:rPr>
              <a:t>Foreign keys keep related data consistent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059669"/>
                </a:solidFill>
                <a:latin typeface="Calibri"/>
              </a:rPr>
              <a:t>→  </a:t>
            </a:r>
            <a:r>
              <a:rPr sz="1350">
                <a:solidFill>
                  <a:srgbClr val="374151"/>
                </a:solidFill>
                <a:latin typeface="Calibri"/>
              </a:rPr>
              <a:t>Cascade deletes clean up orphaned records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059669"/>
                </a:solidFill>
                <a:latin typeface="Calibri"/>
              </a:rPr>
              <a:t>→  </a:t>
            </a:r>
            <a:r>
              <a:rPr sz="1350">
                <a:solidFill>
                  <a:srgbClr val="374151"/>
                </a:solidFill>
                <a:latin typeface="Calibri"/>
              </a:rPr>
              <a:t>Runs on: port 3306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0" b="1" i="0">
                <a:solidFill>
                  <a:srgbClr val="321464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194560"/>
            <a:ext cx="77724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Login &amp; Role-Based
Access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3159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EDE9FE"/>
                </a:solidFill>
                <a:latin typeface="Calibri"/>
              </a:rPr>
              <a:t>Secure authentication with 4 distinct user portals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Secure Login — Role-Based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Each user only sees what they are authorised to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6858000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65836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Login Portal — Live Screenshot</a:t>
            </a:r>
          </a:p>
        </p:txBody>
      </p:sp>
      <p:pic>
        <p:nvPicPr>
          <p:cNvPr id="8" name="Picture 7" descr="page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675120" cy="4306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181344"/>
            <a:ext cx="6583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Users select their role tab, enter credentials, and access their personalised portal securely.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298448"/>
            <a:ext cx="466344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1298448"/>
            <a:ext cx="109728" cy="987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7" y="1408176"/>
            <a:ext cx="43708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0D2350"/>
                </a:solidFill>
                <a:latin typeface="Calibri"/>
              </a:rPr>
              <a:t>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7" y="1828800"/>
            <a:ext cx="43708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Full control — all modules, settings, data, reports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2432304"/>
            <a:ext cx="466344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79" y="2432304"/>
            <a:ext cx="109728" cy="9875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7" y="2542032"/>
            <a:ext cx="43708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0D2350"/>
                </a:solidFill>
                <a:latin typeface="Calibri"/>
              </a:rPr>
              <a:t>Teacher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7" y="2962656"/>
            <a:ext cx="43708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Mark attendance, upload exam marks, view timetable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3566160"/>
            <a:ext cx="466344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79" y="3566160"/>
            <a:ext cx="109728" cy="9875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99247" y="3675888"/>
            <a:ext cx="43708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0D2350"/>
                </a:solidFill>
                <a:latin typeface="Calibri"/>
              </a:rPr>
              <a:t>Parent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7" y="4096512"/>
            <a:ext cx="43708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View child's attendance, marks, fees, notices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4700016"/>
            <a:ext cx="466344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79" y="4700016"/>
            <a:ext cx="109728" cy="9875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9247" y="4809744"/>
            <a:ext cx="43708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0D2350"/>
                </a:solidFill>
                <a:latin typeface="Calibri"/>
              </a:rPr>
              <a:t>Student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7" y="5230368"/>
            <a:ext cx="43708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Own timetable, marks, library books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5971032"/>
            <a:ext cx="4663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D2350"/>
                </a:solidFill>
                <a:latin typeface="Calibri"/>
              </a:rPr>
              <a:t>Demo Credentials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79" y="6336792"/>
            <a:ext cx="4663440" cy="38404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39" y="6355079"/>
            <a:ext cx="8686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>
                <a:solidFill>
                  <a:srgbClr val="0D2350"/>
                </a:solidFill>
                <a:latin typeface="Calibri"/>
              </a:rPr>
              <a:t>Admin: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19" y="6355079"/>
            <a:ext cx="3566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admin@school.com  /  demo123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79" y="6775704"/>
            <a:ext cx="4663440" cy="38404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5239" y="6793991"/>
            <a:ext cx="8686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>
                <a:solidFill>
                  <a:srgbClr val="0D2350"/>
                </a:solidFill>
                <a:latin typeface="Calibri"/>
              </a:rPr>
              <a:t>Teacher: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19" y="6793991"/>
            <a:ext cx="3566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teacher@school.com  /  demo123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79" y="7214616"/>
            <a:ext cx="4663440" cy="38404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39" y="7232903"/>
            <a:ext cx="8686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>
                <a:solidFill>
                  <a:srgbClr val="0D2350"/>
                </a:solidFill>
                <a:latin typeface="Calibri"/>
              </a:rPr>
              <a:t>Parent: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19" y="7232903"/>
            <a:ext cx="3566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parent@school.com  /  demo123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0" b="1" i="0">
                <a:solidFill>
                  <a:srgbClr val="142D73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560320"/>
            <a:ext cx="77724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Admin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95020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DBEAFE"/>
                </a:solidFill>
                <a:latin typeface="Calibri"/>
              </a:rPr>
              <a:t>Institutional overview — everything at a glance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Admin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Real-time institutional overview for school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7498079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722375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Institutional Dashboard — Live Screenshot</a:t>
            </a:r>
          </a:p>
        </p:txBody>
      </p:sp>
      <p:pic>
        <p:nvPicPr>
          <p:cNvPr id="8" name="Picture 7" descr="pag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315199" cy="4306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181344"/>
            <a:ext cx="722375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Shows total students, teachers, revenue, alerts, attendance chart and revenue trends — all updated live.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298448"/>
            <a:ext cx="4069080" cy="89611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92440" y="1298448"/>
            <a:ext cx="91440" cy="8961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371600"/>
            <a:ext cx="37947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  <a:latin typeface="Calibri"/>
              </a:rPr>
              <a:t>20,000+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828800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Students Enrolled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377440"/>
            <a:ext cx="4069080" cy="896112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2377440"/>
            <a:ext cx="91440" cy="89611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450592"/>
            <a:ext cx="37947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EA580C"/>
                </a:solidFill>
                <a:latin typeface="Calibri"/>
              </a:rPr>
              <a:t>1,500+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907792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Teachers Registered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3456432"/>
            <a:ext cx="4069080" cy="896112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3456432"/>
            <a:ext cx="91440" cy="8961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529584"/>
            <a:ext cx="37947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7C3AED"/>
                </a:solidFill>
                <a:latin typeface="Calibri"/>
              </a:rPr>
              <a:t>4 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986784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System Alert Notifications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4535424"/>
            <a:ext cx="4069080" cy="896112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4535424"/>
            <a:ext cx="91440" cy="8961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4608576"/>
            <a:ext cx="37947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059669"/>
                </a:solidFill>
                <a:latin typeface="Calibri"/>
              </a:rPr>
              <a:t>Real-time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5065776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Data from live database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5614416"/>
            <a:ext cx="4069080" cy="89611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5614416"/>
            <a:ext cx="91440" cy="8961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5687568"/>
            <a:ext cx="37947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  <a:latin typeface="Calibri"/>
              </a:rPr>
              <a:t>1-click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6144768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Export Report as PDF/CSV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Dashboard — What You Can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The control centre for school administrators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5486400" cy="24231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91440" cy="2423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08176"/>
            <a:ext cx="519379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Overview Widgets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65376"/>
            <a:ext cx="5193792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Total Students: </a:t>
            </a:r>
            <a:r>
              <a:rPr sz="1350">
                <a:solidFill>
                  <a:srgbClr val="374151"/>
                </a:solidFill>
                <a:latin typeface="Calibri"/>
              </a:rPr>
              <a:t>Live count with gender breakdown and monthly growth %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Total Teachers: </a:t>
            </a:r>
            <a:r>
              <a:rPr sz="1350">
                <a:solidFill>
                  <a:srgbClr val="374151"/>
                </a:solidFill>
                <a:latin typeface="Calibri"/>
              </a:rPr>
              <a:t>Active teaching staff count with department split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Revenue Stats: </a:t>
            </a:r>
            <a:r>
              <a:rPr sz="1350">
                <a:solidFill>
                  <a:srgbClr val="374151"/>
                </a:solidFill>
                <a:latin typeface="Calibri"/>
              </a:rPr>
              <a:t>Monthly fee collection vs target with trend chart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System Alerts: </a:t>
            </a:r>
            <a:r>
              <a:rPr sz="1350">
                <a:solidFill>
                  <a:srgbClr val="374151"/>
                </a:solidFill>
                <a:latin typeface="Calibri"/>
              </a:rPr>
              <a:t>Pending fee approvals, notices awaiting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298448"/>
            <a:ext cx="5577840" cy="2423160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44768" y="1298448"/>
            <a:ext cx="91440" cy="24231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1408176"/>
            <a:ext cx="528523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Charts &amp; Graphs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1865376"/>
            <a:ext cx="5285232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Attendance Chart: </a:t>
            </a:r>
            <a:r>
              <a:rPr sz="1350">
                <a:solidFill>
                  <a:srgbClr val="374151"/>
                </a:solidFill>
                <a:latin typeface="Calibri"/>
              </a:rPr>
              <a:t>Weekly bar chart showing daily attendance across all classes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Revenue Graph: </a:t>
            </a:r>
            <a:r>
              <a:rPr sz="1350">
                <a:solidFill>
                  <a:srgbClr val="374151"/>
                </a:solidFill>
                <a:latin typeface="Calibri"/>
              </a:rPr>
              <a:t>Area chart comparing collected fees vs total fees by month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Trend Lines: </a:t>
            </a:r>
            <a:r>
              <a:rPr sz="1350">
                <a:solidFill>
                  <a:srgbClr val="374151"/>
                </a:solidFill>
                <a:latin typeface="Calibri"/>
              </a:rPr>
              <a:t>Month-on-month growth tracking for all key metrics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Export Button: </a:t>
            </a:r>
            <a:r>
              <a:rPr sz="1350">
                <a:solidFill>
                  <a:srgbClr val="374151"/>
                </a:solidFill>
                <a:latin typeface="Calibri"/>
              </a:rPr>
              <a:t>Download any chart or report as a PDF briefing in one click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13632"/>
            <a:ext cx="5486400" cy="242316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913632"/>
            <a:ext cx="91440" cy="2423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023360"/>
            <a:ext cx="519379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Navigation Sidebar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480560"/>
            <a:ext cx="5193792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Main Menu: </a:t>
            </a:r>
            <a:r>
              <a:rPr sz="1350">
                <a:solidFill>
                  <a:srgbClr val="374151"/>
                </a:solidFill>
                <a:latin typeface="Calibri"/>
              </a:rPr>
              <a:t>Quick access to all 16 modules from a collapsible sidebar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Role Aware: </a:t>
            </a:r>
            <a:r>
              <a:rPr sz="1350">
                <a:solidFill>
                  <a:srgbClr val="374151"/>
                </a:solidFill>
                <a:latin typeface="Calibri"/>
              </a:rPr>
              <a:t>Sidebar shows only modules the logged-in user can access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Search Bar: </a:t>
            </a:r>
            <a:r>
              <a:rPr sz="1350">
                <a:solidFill>
                  <a:srgbClr val="374151"/>
                </a:solidFill>
                <a:latin typeface="Calibri"/>
              </a:rPr>
              <a:t>Global search across students, teachers, and records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Notifications: </a:t>
            </a:r>
            <a:r>
              <a:rPr sz="1350">
                <a:solidFill>
                  <a:srgbClr val="374151"/>
                </a:solidFill>
                <a:latin typeface="Calibri"/>
              </a:rPr>
              <a:t>Bell icon shows unread alerts with count badge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3913632"/>
            <a:ext cx="5577840" cy="242316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3913632"/>
            <a:ext cx="91440" cy="2423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4023360"/>
            <a:ext cx="528523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Admin Quick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4480560"/>
            <a:ext cx="5285232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Enroll Student: </a:t>
            </a:r>
            <a:r>
              <a:rPr sz="1350">
                <a:solidFill>
                  <a:srgbClr val="374151"/>
                </a:solidFill>
                <a:latin typeface="Calibri"/>
              </a:rPr>
              <a:t>Add new student with photo from the dashboard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Add Teacher: </a:t>
            </a:r>
            <a:r>
              <a:rPr sz="1350">
                <a:solidFill>
                  <a:srgbClr val="374151"/>
                </a:solidFill>
                <a:latin typeface="Calibri"/>
              </a:rPr>
              <a:t>Register new teaching staff immediately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Post Notice: </a:t>
            </a:r>
            <a:r>
              <a:rPr sz="1350">
                <a:solidFill>
                  <a:srgbClr val="374151"/>
                </a:solidFill>
                <a:latin typeface="Calibri"/>
              </a:rPr>
              <a:t>Broadcast announcements to all users or specific roles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Generate Report: </a:t>
            </a:r>
            <a:r>
              <a:rPr sz="1350">
                <a:solidFill>
                  <a:srgbClr val="374151"/>
                </a:solidFill>
                <a:latin typeface="Calibri"/>
              </a:rPr>
              <a:t>One-click PDF report for any module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0" b="1" i="0">
                <a:solidFill>
                  <a:srgbClr val="142D73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7772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Student
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20624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DBEAFE"/>
                </a:solidFill>
                <a:latin typeface="Calibri"/>
              </a:rPr>
              <a:t>Enroll, track, and manage every student in the institution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Student Management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Complete student directory with records and quick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7223760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Students Directory — Live Screenshot</a:t>
            </a:r>
          </a:p>
        </p:txBody>
      </p:sp>
      <p:pic>
        <p:nvPicPr>
          <p:cNvPr id="8" name="Picture 7" descr="page_stu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040880" cy="4306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181344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Searchable directory showing enrollment stats, attendance rate, class, and student photo with action buttons.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298448"/>
            <a:ext cx="429768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298448"/>
            <a:ext cx="9144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37160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Enroll Student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1700784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Add with photo, class, section, guardian contact info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2176272"/>
            <a:ext cx="429768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18120" y="2176272"/>
            <a:ext cx="91440" cy="7315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2249424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Search &amp; Filter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578608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Find by name, student ID, class, or email address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3054096"/>
            <a:ext cx="429768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3054096"/>
            <a:ext cx="91440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3127248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98.2% Attendance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345643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Shown as a live metric on the students listing page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3931920"/>
            <a:ext cx="429768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18120" y="3931920"/>
            <a:ext cx="91440" cy="731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4005072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Export 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4334256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Download full student list for offline records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4809744"/>
            <a:ext cx="429768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18120" y="4809744"/>
            <a:ext cx="9144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4882896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View Profile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521208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Detailed student card with all academic records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5687568"/>
            <a:ext cx="429768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18120" y="5687568"/>
            <a:ext cx="91440" cy="7315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01000" y="576072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Delete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089904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Safely removes all linked data (fees, marks, attendance)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Guardians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Parent &amp; guardian directory linked to student records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7223760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Guardians Directory — Live Screenshot</a:t>
            </a:r>
          </a:p>
        </p:txBody>
      </p:sp>
      <p:pic>
        <p:nvPicPr>
          <p:cNvPr id="8" name="Picture 7" descr="page_guardi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040880" cy="4306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181344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Each guardian is linked to their child's records. Parents get a separate login to view their child's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298448"/>
            <a:ext cx="4297680" cy="521208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298448"/>
            <a:ext cx="91440" cy="5212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1408176"/>
            <a:ext cx="4005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Guardian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865376"/>
            <a:ext cx="4005072" cy="4553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Parent Portal: </a:t>
            </a:r>
            <a:r>
              <a:rPr sz="1350">
                <a:solidFill>
                  <a:srgbClr val="374151"/>
                </a:solidFill>
                <a:latin typeface="Calibri"/>
              </a:rPr>
              <a:t>Guardian gets a separate login to view their child's marks, attendance, fees, and notices.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Student Link: </a:t>
            </a:r>
            <a:r>
              <a:rPr sz="1350">
                <a:solidFill>
                  <a:srgbClr val="374151"/>
                </a:solidFill>
                <a:latin typeface="Calibri"/>
              </a:rPr>
              <a:t>Each guardian record is linked to one or more student profiles.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Contact Info: </a:t>
            </a:r>
            <a:r>
              <a:rPr sz="1350">
                <a:solidFill>
                  <a:srgbClr val="374151"/>
                </a:solidFill>
                <a:latin typeface="Calibri"/>
              </a:rPr>
              <a:t>Phone, email, and address stored for emergency communication.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Fee Alerts: </a:t>
            </a:r>
            <a:r>
              <a:rPr sz="1350">
                <a:solidFill>
                  <a:srgbClr val="374151"/>
                </a:solidFill>
                <a:latin typeface="Calibri"/>
              </a:rPr>
              <a:t>Guardians receive automatic fee due reminders via the portal.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Notice Access: </a:t>
            </a:r>
            <a:r>
              <a:rPr sz="1350">
                <a:solidFill>
                  <a:srgbClr val="374151"/>
                </a:solidFill>
                <a:latin typeface="Calibri"/>
              </a:rPr>
              <a:t>Can read all announcements posted by the school.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Profile Photo: </a:t>
            </a:r>
            <a:r>
              <a:rPr sz="1350">
                <a:solidFill>
                  <a:srgbClr val="374151"/>
                </a:solidFill>
                <a:latin typeface="Calibri"/>
              </a:rPr>
              <a:t>Guardian photo stored alongside contact details.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0" b="1" i="0">
                <a:solidFill>
                  <a:srgbClr val="50230A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7772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Teacher &amp; Staff
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20624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FFEDD5"/>
                </a:solidFill>
                <a:latin typeface="Calibri"/>
              </a:rPr>
              <a:t>Manage all teaching and non-teaching staff in one place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Teacher Management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Complete staff directory with assignments and profiles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7223760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Teachers Directory — Live Screenshot</a:t>
            </a:r>
          </a:p>
        </p:txBody>
      </p:sp>
      <p:pic>
        <p:nvPicPr>
          <p:cNvPr id="8" name="Picture 7" descr="page_teach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040880" cy="4306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181344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Full teacher roster with subject, qualification, experience and contact. Click any teacher to view full profile.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298448"/>
            <a:ext cx="4297680" cy="5212080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298448"/>
            <a:ext cx="91440" cy="5212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1408176"/>
            <a:ext cx="4005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Teacher Module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865376"/>
            <a:ext cx="4005072" cy="4553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Add Teacher: </a:t>
            </a:r>
            <a:r>
              <a:rPr sz="1350">
                <a:solidFill>
                  <a:srgbClr val="374151"/>
                </a:solidFill>
                <a:latin typeface="Calibri"/>
              </a:rPr>
              <a:t>Register with photo, subject, qualification, experience, salary.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Assign Classes: </a:t>
            </a:r>
            <a:r>
              <a:rPr sz="1350">
                <a:solidFill>
                  <a:srgbClr val="374151"/>
                </a:solidFill>
                <a:latin typeface="Calibri"/>
              </a:rPr>
              <a:t>Link each teacher to specific classes and subjects.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Timetable: </a:t>
            </a:r>
            <a:r>
              <a:rPr sz="1350">
                <a:solidFill>
                  <a:srgbClr val="374151"/>
                </a:solidFill>
                <a:latin typeface="Calibri"/>
              </a:rPr>
              <a:t>Automatically checks and prevents double-booking of teachers.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Attendance Record: </a:t>
            </a:r>
            <a:r>
              <a:rPr sz="1350">
                <a:solidFill>
                  <a:srgbClr val="374151"/>
                </a:solidFill>
                <a:latin typeface="Calibri"/>
              </a:rPr>
              <a:t>Track teacher attendance just like students.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Salary Info: </a:t>
            </a:r>
            <a:r>
              <a:rPr sz="1350">
                <a:solidFill>
                  <a:srgbClr val="374151"/>
                </a:solidFill>
                <a:latin typeface="Calibri"/>
              </a:rPr>
              <a:t>Store pay grades, allowances, and payment history.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Teacher Login: </a:t>
            </a:r>
            <a:r>
              <a:rPr sz="1350">
                <a:solidFill>
                  <a:srgbClr val="374151"/>
                </a:solidFill>
                <a:latin typeface="Calibri"/>
              </a:rPr>
              <a:t>Each teacher logs in to mark attendance and upload marks.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Employee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Non-teaching staff records and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7223760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Employee Directory — Live Screenshot</a:t>
            </a:r>
          </a:p>
        </p:txBody>
      </p:sp>
      <p:pic>
        <p:nvPicPr>
          <p:cNvPr id="8" name="Picture 7" descr="page_employ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040880" cy="4306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181344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Manage administrative, support, and non-teaching staff separately from teacher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298448"/>
            <a:ext cx="4297680" cy="52120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298448"/>
            <a:ext cx="91440" cy="5212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1408176"/>
            <a:ext cx="4005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Employee Module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865376"/>
            <a:ext cx="4005072" cy="4553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Staff Directory: </a:t>
            </a:r>
            <a:r>
              <a:rPr sz="1350">
                <a:solidFill>
                  <a:srgbClr val="374151"/>
                </a:solidFill>
                <a:latin typeface="Calibri"/>
              </a:rPr>
              <a:t>Separate listing for non-teaching staff like clerks, peons, drivers.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Department: </a:t>
            </a:r>
            <a:r>
              <a:rPr sz="1350">
                <a:solidFill>
                  <a:srgbClr val="374151"/>
                </a:solidFill>
                <a:latin typeface="Calibri"/>
              </a:rPr>
              <a:t>Assign employees to Administration, Housekeeping, Security etc.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Designation: </a:t>
            </a:r>
            <a:r>
              <a:rPr sz="1350">
                <a:solidFill>
                  <a:srgbClr val="374151"/>
                </a:solidFill>
                <a:latin typeface="Calibri"/>
              </a:rPr>
              <a:t>Track roles — Accountant, Lab Assistant, Office Manager.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Contact Details: </a:t>
            </a:r>
            <a:r>
              <a:rPr sz="1350">
                <a:solidFill>
                  <a:srgbClr val="374151"/>
                </a:solidFill>
                <a:latin typeface="Calibri"/>
              </a:rPr>
              <a:t>Phone, email, emergency contact, and address stored.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Join Date: </a:t>
            </a:r>
            <a:r>
              <a:rPr sz="1350">
                <a:solidFill>
                  <a:srgbClr val="374151"/>
                </a:solidFill>
                <a:latin typeface="Calibri"/>
              </a:rPr>
              <a:t>Record employment start date and contract type.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Salary Records: </a:t>
            </a:r>
            <a:r>
              <a:rPr sz="1350">
                <a:solidFill>
                  <a:srgbClr val="374151"/>
                </a:solidFill>
                <a:latin typeface="Calibri"/>
              </a:rPr>
              <a:t>Maintain pay structure for non-teaching staff separately.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0" b="1" i="0">
                <a:solidFill>
                  <a:srgbClr val="053C28"/>
                </a:solidFill>
                <a:latin typeface="Calibr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7772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Fee
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22452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96E6C8"/>
                </a:solidFill>
                <a:latin typeface="Calibri"/>
              </a:rPr>
              <a:t>Digital fee collection, receipt generation, and financial reporting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Fee Management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Digital fee collection with instant receipts and audit trail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7223760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Fee Management — Live Screenshot</a:t>
            </a:r>
          </a:p>
        </p:txBody>
      </p:sp>
      <p:pic>
        <p:nvPicPr>
          <p:cNvPr id="8" name="Picture 7" descr="page_f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040880" cy="4306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181344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Track all fee transactions with Paid/Unpaid status, payment date, student details and receipt generation.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298448"/>
            <a:ext cx="4297680" cy="521208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298448"/>
            <a:ext cx="91440" cy="5212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1408176"/>
            <a:ext cx="4005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Fee Module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865376"/>
            <a:ext cx="4005072" cy="4553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Record Payment: </a:t>
            </a:r>
            <a:r>
              <a:rPr sz="1350">
                <a:solidFill>
                  <a:srgbClr val="374151"/>
                </a:solidFill>
                <a:latin typeface="Calibri"/>
              </a:rPr>
              <a:t>Log fee payments with amount, date, and payment method.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Paid / Unpaid: </a:t>
            </a:r>
            <a:r>
              <a:rPr sz="1350">
                <a:solidFill>
                  <a:srgbClr val="374151"/>
                </a:solidFill>
                <a:latin typeface="Calibri"/>
              </a:rPr>
              <a:t>Filter students by payment status instantly.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Instant Receipt: </a:t>
            </a:r>
            <a:r>
              <a:rPr sz="1350">
                <a:solidFill>
                  <a:srgbClr val="374151"/>
                </a:solidFill>
                <a:latin typeface="Calibri"/>
              </a:rPr>
              <a:t>Generate a printable receipt for every payment.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Export CSV: </a:t>
            </a:r>
            <a:r>
              <a:rPr sz="1350">
                <a:solidFill>
                  <a:srgbClr val="374151"/>
                </a:solidFill>
                <a:latin typeface="Calibri"/>
              </a:rPr>
              <a:t>Download full ledger for accounting and audit.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Due Reminders: </a:t>
            </a:r>
            <a:r>
              <a:rPr sz="1350">
                <a:solidFill>
                  <a:srgbClr val="374151"/>
                </a:solidFill>
                <a:latin typeface="Calibri"/>
              </a:rPr>
              <a:t>Flag overdue payments with automated alerts.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Revenue Chart: </a:t>
            </a:r>
            <a:r>
              <a:rPr sz="1350">
                <a:solidFill>
                  <a:srgbClr val="374151"/>
                </a:solidFill>
                <a:latin typeface="Calibri"/>
              </a:rPr>
              <a:t>Visualise monthly collections vs targets on dashboard.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0" b="1" i="0">
                <a:solidFill>
                  <a:srgbClr val="142D73"/>
                </a:solidFill>
                <a:latin typeface="Calibr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7772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Attendance
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22452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DBEAFE"/>
                </a:solidFill>
                <a:latin typeface="Calibri"/>
              </a:rPr>
              <a:t>Daily attendance for students and staff with real-time reports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Attendance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Track who is present, absent, or late — every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7223760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Attendance Module — Live Screenshot</a:t>
            </a:r>
          </a:p>
        </p:txBody>
      </p:sp>
      <p:pic>
        <p:nvPicPr>
          <p:cNvPr id="8" name="Picture 7" descr="page_atten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040880" cy="4306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181344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Teachers mark Present / Absent / Late for each student. Data is stored and shown on the dashboard chart.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298448"/>
            <a:ext cx="4297680" cy="52120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298448"/>
            <a:ext cx="91440" cy="5212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1408176"/>
            <a:ext cx="4005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Attendance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865376"/>
            <a:ext cx="4005072" cy="4553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Daily Marking: </a:t>
            </a:r>
            <a:r>
              <a:rPr sz="1350">
                <a:solidFill>
                  <a:srgbClr val="374151"/>
                </a:solidFill>
                <a:latin typeface="Calibri"/>
              </a:rPr>
              <a:t>Teachers mark attendance class-by-class each day.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Status Options: </a:t>
            </a:r>
            <a:r>
              <a:rPr sz="1350">
                <a:solidFill>
                  <a:srgbClr val="374151"/>
                </a:solidFill>
                <a:latin typeface="Calibri"/>
              </a:rPr>
              <a:t>Present, Absent, Late — each with different visual indicator.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Date Filter: </a:t>
            </a:r>
            <a:r>
              <a:rPr sz="1350">
                <a:solidFill>
                  <a:srgbClr val="374151"/>
                </a:solidFill>
                <a:latin typeface="Calibri"/>
              </a:rPr>
              <a:t>Browse historical attendance for any past date.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Attendance %: </a:t>
            </a:r>
            <a:r>
              <a:rPr sz="1350">
                <a:solidFill>
                  <a:srgbClr val="374151"/>
                </a:solidFill>
                <a:latin typeface="Calibri"/>
              </a:rPr>
              <a:t>Percentage calculated automatically per student.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Reports: </a:t>
            </a:r>
            <a:r>
              <a:rPr sz="1350">
                <a:solidFill>
                  <a:srgbClr val="374151"/>
                </a:solidFill>
                <a:latin typeface="Calibri"/>
              </a:rPr>
              <a:t>Generate attendance summary by class, date range, or student.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Parent Visibility: </a:t>
            </a:r>
            <a:r>
              <a:rPr sz="1350">
                <a:solidFill>
                  <a:srgbClr val="374151"/>
                </a:solidFill>
                <a:latin typeface="Calibri"/>
              </a:rPr>
              <a:t>Parents see their child's attendance in real-time.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0" b="1" i="0">
                <a:solidFill>
                  <a:srgbClr val="321464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7772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Exams &amp;
Timetable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22452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EDE9FE"/>
                </a:solidFill>
                <a:latin typeface="Calibri"/>
              </a:rPr>
              <a:t>Schedule exams and build weekly class timetables without conflicts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Exams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Schedule and track all school examinations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7223760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Exams Module — Live Screenshot</a:t>
            </a:r>
          </a:p>
        </p:txBody>
      </p:sp>
      <p:pic>
        <p:nvPicPr>
          <p:cNvPr id="8" name="Picture 7" descr="page_ex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040880" cy="4306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181344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Create exam schedules mapped to specific classes. Track exam dates, subjects, and mark entry by teachers.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298448"/>
            <a:ext cx="4297680" cy="52120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298448"/>
            <a:ext cx="91440" cy="5212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1408176"/>
            <a:ext cx="4005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Exams Module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865376"/>
            <a:ext cx="4005072" cy="4553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Create Exam: </a:t>
            </a:r>
            <a:r>
              <a:rPr sz="1350">
                <a:solidFill>
                  <a:srgbClr val="374151"/>
                </a:solidFill>
                <a:latin typeface="Calibri"/>
              </a:rPr>
              <a:t>Schedule exam blocks with name, date, class, and subject.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Subject Mapping: </a:t>
            </a:r>
            <a:r>
              <a:rPr sz="1350">
                <a:solidFill>
                  <a:srgbClr val="374151"/>
                </a:solidFill>
                <a:latin typeface="Calibri"/>
              </a:rPr>
              <a:t>Each exam linked to specific subject and teacher.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Mark Entry: </a:t>
            </a:r>
            <a:r>
              <a:rPr sz="1350">
                <a:solidFill>
                  <a:srgbClr val="374151"/>
                </a:solidFill>
                <a:latin typeface="Calibri"/>
              </a:rPr>
              <a:t>Teachers upload marks directly against student records.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Results View: </a:t>
            </a:r>
            <a:r>
              <a:rPr sz="1350">
                <a:solidFill>
                  <a:srgbClr val="374151"/>
                </a:solidFill>
                <a:latin typeface="Calibri"/>
              </a:rPr>
              <a:t>Students see their marks on their portal after entry.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Class Filter: </a:t>
            </a:r>
            <a:r>
              <a:rPr sz="1350">
                <a:solidFill>
                  <a:srgbClr val="374151"/>
                </a:solidFill>
                <a:latin typeface="Calibri"/>
              </a:rPr>
              <a:t>View exams for a specific class or across all classes.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History: </a:t>
            </a:r>
            <a:r>
              <a:rPr sz="1350">
                <a:solidFill>
                  <a:srgbClr val="374151"/>
                </a:solidFill>
                <a:latin typeface="Calibri"/>
              </a:rPr>
              <a:t>Browse past exam results for any academic period.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Timetable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Build weekly class schedules with automatic conflict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7223760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Timetable Module — Live Screenshot</a:t>
            </a:r>
          </a:p>
        </p:txBody>
      </p:sp>
      <p:pic>
        <p:nvPicPr>
          <p:cNvPr id="8" name="Picture 7" descr="page_time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040880" cy="4306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181344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Visual weekly grid. Assign teachers to periods. The system prevents double-booking the same teacher.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298448"/>
            <a:ext cx="4297680" cy="52120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298448"/>
            <a:ext cx="91440" cy="5212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1408176"/>
            <a:ext cx="4005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Timetable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865376"/>
            <a:ext cx="4005072" cy="4553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Visual Grid: </a:t>
            </a:r>
            <a:r>
              <a:rPr sz="1350">
                <a:solidFill>
                  <a:srgbClr val="374151"/>
                </a:solidFill>
                <a:latin typeface="Calibri"/>
              </a:rPr>
              <a:t>7-day weekly timetable shown as a colour-coded grid.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Teacher Assignment: </a:t>
            </a:r>
            <a:r>
              <a:rPr sz="1350">
                <a:solidFill>
                  <a:srgbClr val="374151"/>
                </a:solidFill>
                <a:latin typeface="Calibri"/>
              </a:rPr>
              <a:t>Each period is assigned a teacher and subject.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Conflict Detection: </a:t>
            </a:r>
            <a:r>
              <a:rPr sz="1350">
                <a:solidFill>
                  <a:srgbClr val="374151"/>
                </a:solidFill>
                <a:latin typeface="Calibri"/>
              </a:rPr>
              <a:t>System alerts when a teacher is double-booked.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Class-wise View: </a:t>
            </a:r>
            <a:r>
              <a:rPr sz="1350">
                <a:solidFill>
                  <a:srgbClr val="374151"/>
                </a:solidFill>
                <a:latin typeface="Calibri"/>
              </a:rPr>
              <a:t>Switch between classes to see their timetable.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Period Labels: </a:t>
            </a:r>
            <a:r>
              <a:rPr sz="1350">
                <a:solidFill>
                  <a:srgbClr val="374151"/>
                </a:solidFill>
                <a:latin typeface="Calibri"/>
              </a:rPr>
              <a:t>Customise period timings (8:00 AM – 9:00 AM etc.).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Student Visible: </a:t>
            </a:r>
            <a:r>
              <a:rPr sz="1350">
                <a:solidFill>
                  <a:srgbClr val="374151"/>
                </a:solidFill>
                <a:latin typeface="Calibri"/>
              </a:rPr>
              <a:t>Students see their own timetable on their portal.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0" b="1" i="0">
                <a:solidFill>
                  <a:srgbClr val="50230A"/>
                </a:solidFill>
                <a:latin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7772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Library &amp;
Hostel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22452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FFEDD5"/>
                </a:solidFill>
                <a:latin typeface="Calibri"/>
              </a:rPr>
              <a:t>Book tracking and student accommodation management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Library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Digital book catalogue with issue and return 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7223760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Library Module — Live Screenshot</a:t>
            </a:r>
          </a:p>
        </p:txBody>
      </p:sp>
      <p:pic>
        <p:nvPicPr>
          <p:cNvPr id="8" name="Picture 7" descr="page_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040880" cy="4306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181344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Books catalogued with author, category, availability status. Issue and return recorded against student IDs.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298448"/>
            <a:ext cx="4297680" cy="5212080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298448"/>
            <a:ext cx="91440" cy="5212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1408176"/>
            <a:ext cx="4005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Library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865376"/>
            <a:ext cx="4005072" cy="4553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Book Catalogue: </a:t>
            </a:r>
            <a:r>
              <a:rPr sz="1350">
                <a:solidFill>
                  <a:srgbClr val="374151"/>
                </a:solidFill>
                <a:latin typeface="Calibri"/>
              </a:rPr>
              <a:t>All books listed with title, author, category, quantity.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Issue Book: </a:t>
            </a:r>
            <a:r>
              <a:rPr sz="1350">
                <a:solidFill>
                  <a:srgbClr val="374151"/>
                </a:solidFill>
                <a:latin typeface="Calibri"/>
              </a:rPr>
              <a:t>Assign a book to a student with issue date recorded.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Return Book: </a:t>
            </a:r>
            <a:r>
              <a:rPr sz="1350">
                <a:solidFill>
                  <a:srgbClr val="374151"/>
                </a:solidFill>
                <a:latin typeface="Calibri"/>
              </a:rPr>
              <a:t>Mark book as returned; availability updates automatically.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Availability: </a:t>
            </a:r>
            <a:r>
              <a:rPr sz="1350">
                <a:solidFill>
                  <a:srgbClr val="374151"/>
                </a:solidFill>
                <a:latin typeface="Calibri"/>
              </a:rPr>
              <a:t>Available vs Issued count shown for each title.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Student View: </a:t>
            </a:r>
            <a:r>
              <a:rPr sz="1350">
                <a:solidFill>
                  <a:srgbClr val="374151"/>
                </a:solidFill>
                <a:latin typeface="Calibri"/>
              </a:rPr>
              <a:t>Students can see which books they have issued.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Search Books: </a:t>
            </a:r>
            <a:r>
              <a:rPr sz="1350">
                <a:solidFill>
                  <a:srgbClr val="374151"/>
                </a:solidFill>
                <a:latin typeface="Calibri"/>
              </a:rPr>
              <a:t>Search by title, author, or category instantly.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Hostel Management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Room allocation and residency tracking for boarding students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7223760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Hostel Module — Live Screenshot</a:t>
            </a:r>
          </a:p>
        </p:txBody>
      </p:sp>
      <p:pic>
        <p:nvPicPr>
          <p:cNvPr id="8" name="Picture 7" descr="page_host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040880" cy="4306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181344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Each hostel room tracked with capacity, occupancy, and assigned students. Vacancy shown in real-time.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298448"/>
            <a:ext cx="4297680" cy="5212080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298448"/>
            <a:ext cx="91440" cy="5212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1408176"/>
            <a:ext cx="4005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Hostel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865376"/>
            <a:ext cx="4005072" cy="4553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Room Listing: </a:t>
            </a:r>
            <a:r>
              <a:rPr sz="1350">
                <a:solidFill>
                  <a:srgbClr val="374151"/>
                </a:solidFill>
                <a:latin typeface="Calibri"/>
              </a:rPr>
              <a:t>All hostel rooms shown with block, room number, capacity.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Allocate Room: </a:t>
            </a:r>
            <a:r>
              <a:rPr sz="1350">
                <a:solidFill>
                  <a:srgbClr val="374151"/>
                </a:solidFill>
                <a:latin typeface="Calibri"/>
              </a:rPr>
              <a:t>Assign a student to a specific room with start date.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Vacancy Tracker: </a:t>
            </a:r>
            <a:r>
              <a:rPr sz="1350">
                <a:solidFill>
                  <a:srgbClr val="374151"/>
                </a:solidFill>
                <a:latin typeface="Calibri"/>
              </a:rPr>
              <a:t>See available vs occupied rooms at a glance.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Student Records: </a:t>
            </a:r>
            <a:r>
              <a:rPr sz="1350">
                <a:solidFill>
                  <a:srgbClr val="374151"/>
                </a:solidFill>
                <a:latin typeface="Calibri"/>
              </a:rPr>
              <a:t>View which students are assigned to each room.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Vacate Room: </a:t>
            </a:r>
            <a:r>
              <a:rPr sz="1350">
                <a:solidFill>
                  <a:srgbClr val="374151"/>
                </a:solidFill>
                <a:latin typeface="Calibri"/>
              </a:rPr>
              <a:t>Mark a student as moved out to free the room.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Block Filter: </a:t>
            </a:r>
            <a:r>
              <a:rPr sz="1350">
                <a:solidFill>
                  <a:srgbClr val="374151"/>
                </a:solidFill>
                <a:latin typeface="Calibri"/>
              </a:rPr>
              <a:t>Filter rooms by hostel block or floor number.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0" b="1" i="0">
                <a:solidFill>
                  <a:srgbClr val="053C28"/>
                </a:solidFill>
                <a:latin typeface="Calibr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7772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Transport
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22452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96E6C8"/>
                </a:solidFill>
                <a:latin typeface="Calibri"/>
              </a:rPr>
              <a:t>Manage bus routes, drivers, and student transport assignments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Transport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Digital management of school bus routes and drivers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7223760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Transport Module — Live Screenshot</a:t>
            </a:r>
          </a:p>
        </p:txBody>
      </p:sp>
      <p:pic>
        <p:nvPicPr>
          <p:cNvPr id="8" name="Picture 7" descr="page_trans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040880" cy="4306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181344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Bus routes listed with assigned driver, stop count, and student assignments. Driver directory included.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298448"/>
            <a:ext cx="4297680" cy="521208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298448"/>
            <a:ext cx="91440" cy="5212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1408176"/>
            <a:ext cx="4005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Transport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865376"/>
            <a:ext cx="4005072" cy="4553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Route Management: </a:t>
            </a:r>
            <a:r>
              <a:rPr sz="1350">
                <a:solidFill>
                  <a:srgbClr val="374151"/>
                </a:solidFill>
                <a:latin typeface="Calibri"/>
              </a:rPr>
              <a:t>Define named bus routes with start point, end point, and stops.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Driver Directory: </a:t>
            </a:r>
            <a:r>
              <a:rPr sz="1350">
                <a:solidFill>
                  <a:srgbClr val="374151"/>
                </a:solidFill>
                <a:latin typeface="Calibri"/>
              </a:rPr>
              <a:t>Register drivers with licence, vehicle number, phone.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Student Assignment: </a:t>
            </a:r>
            <a:r>
              <a:rPr sz="1350">
                <a:solidFill>
                  <a:srgbClr val="374151"/>
                </a:solidFill>
                <a:latin typeface="Calibri"/>
              </a:rPr>
              <a:t>Assign each boarding student to a specific bus route.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Route Report: </a:t>
            </a:r>
            <a:r>
              <a:rPr sz="1350">
                <a:solidFill>
                  <a:srgbClr val="374151"/>
                </a:solidFill>
                <a:latin typeface="Calibri"/>
              </a:rPr>
              <a:t>See how many students are on each route.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Driver Contact: </a:t>
            </a:r>
            <a:r>
              <a:rPr sz="1350">
                <a:solidFill>
                  <a:srgbClr val="374151"/>
                </a:solidFill>
                <a:latin typeface="Calibri"/>
              </a:rPr>
              <a:t>One-click access to driver phone number.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Vehicle Tracking: </a:t>
            </a:r>
            <a:r>
              <a:rPr sz="1350">
                <a:solidFill>
                  <a:srgbClr val="374151"/>
                </a:solidFill>
                <a:latin typeface="Calibri"/>
              </a:rPr>
              <a:t>Record vehicle number and type for each route.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>
                <a:solidFill>
                  <a:srgbClr val="1E294A"/>
                </a:solidFill>
                <a:latin typeface="Calibr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7772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AI Analytics
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22452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96E6C8"/>
                </a:solidFill>
                <a:latin typeface="Calibri"/>
              </a:rPr>
              <a:t>Machine learning predictions for student performance and institutional health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AI Analytics — Performance Intelligence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Predictive analytics and institutional health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7223760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AI Performance Hub — Live Screenshot</a:t>
            </a:r>
          </a:p>
        </p:txBody>
      </p:sp>
      <p:pic>
        <p:nvPicPr>
          <p:cNvPr id="8" name="Picture 7" descr="ai_hub_17822924084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040880" cy="4306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181344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Shows Institutional Health (97%), Predictive Accuracy (99.2%), Intervention ROI (82.4%) with live forecast charts.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298448"/>
            <a:ext cx="4069080" cy="896112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92440" y="1298448"/>
            <a:ext cx="91440" cy="8961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371600"/>
            <a:ext cx="37947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059669"/>
                </a:solidFill>
                <a:latin typeface="Calibri"/>
              </a:rPr>
              <a:t>97.0%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828800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Institutional Health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377440"/>
            <a:ext cx="4069080" cy="896112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2377440"/>
            <a:ext cx="91440" cy="8961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450592"/>
            <a:ext cx="37947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059669"/>
                </a:solidFill>
                <a:latin typeface="Calibri"/>
              </a:rPr>
              <a:t>99.2%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907792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AI Predictive Accuracy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3456432"/>
            <a:ext cx="4069080" cy="896112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3456432"/>
            <a:ext cx="91440" cy="8961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529584"/>
            <a:ext cx="37947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059669"/>
                </a:solidFill>
                <a:latin typeface="Calibri"/>
              </a:rPr>
              <a:t>82.4%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986784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Intervention ROI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4535424"/>
            <a:ext cx="4069080" cy="896112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4535424"/>
            <a:ext cx="91440" cy="89611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4608576"/>
            <a:ext cx="37947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EA580C"/>
                </a:solidFill>
                <a:latin typeface="Calibri"/>
              </a:rPr>
              <a:t>Risk 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5065776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Students flagged for early help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5614416"/>
            <a:ext cx="4069080" cy="89611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5614416"/>
            <a:ext cx="91440" cy="8961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5687568"/>
            <a:ext cx="37947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  <a:latin typeface="Calibri"/>
              </a:rPr>
              <a:t>Forecasting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6144768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Performance trends for next term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AI Module —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Simple explanation of the AI analytics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5394960" cy="242316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91440" cy="2423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08176"/>
            <a:ext cx="510235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Student Performance Predictor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65376"/>
            <a:ext cx="5102352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Input data: </a:t>
            </a:r>
            <a:r>
              <a:rPr sz="1350">
                <a:solidFill>
                  <a:srgbClr val="374151"/>
                </a:solidFill>
                <a:latin typeface="Calibri"/>
              </a:rPr>
              <a:t>Past exam marks, attendance rate, assignment completion.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Output: </a:t>
            </a:r>
            <a:r>
              <a:rPr sz="1350">
                <a:solidFill>
                  <a:srgbClr val="374151"/>
                </a:solidFill>
                <a:latin typeface="Calibri"/>
              </a:rPr>
              <a:t>Risk score (Low / Medium / High) for each student.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Action: </a:t>
            </a:r>
            <a:r>
              <a:rPr sz="1350">
                <a:solidFill>
                  <a:srgbClr val="374151"/>
                </a:solidFill>
                <a:latin typeface="Calibri"/>
              </a:rPr>
              <a:t>Teachers are alerted to students showing high-risk patterns.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Accuracy: </a:t>
            </a:r>
            <a:r>
              <a:rPr sz="1350">
                <a:solidFill>
                  <a:srgbClr val="374151"/>
                </a:solidFill>
                <a:latin typeface="Calibri"/>
              </a:rPr>
              <a:t>99.2% predictive accuracy on historical school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298448"/>
            <a:ext cx="5577840" cy="24231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44768" y="1298448"/>
            <a:ext cx="91440" cy="2423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1408176"/>
            <a:ext cx="528523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Institutional Health Monitor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1865376"/>
            <a:ext cx="5285232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Tracks: </a:t>
            </a:r>
            <a:r>
              <a:rPr sz="1350">
                <a:solidFill>
                  <a:srgbClr val="374151"/>
                </a:solidFill>
                <a:latin typeface="Calibri"/>
              </a:rPr>
              <a:t>Overall school performance as a composite health score.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Metrics: </a:t>
            </a:r>
            <a:r>
              <a:rPr sz="1350">
                <a:solidFill>
                  <a:srgbClr val="374151"/>
                </a:solidFill>
                <a:latin typeface="Calibri"/>
              </a:rPr>
              <a:t>Attendance rate, fee collection %, exam pass rate combined.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Live: </a:t>
            </a:r>
            <a:r>
              <a:rPr sz="1350">
                <a:solidFill>
                  <a:srgbClr val="374151"/>
                </a:solidFill>
                <a:latin typeface="Calibri"/>
              </a:rPr>
              <a:t>Score updates automatically as new data is entered.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Target: </a:t>
            </a:r>
            <a:r>
              <a:rPr sz="1350">
                <a:solidFill>
                  <a:srgbClr val="374151"/>
                </a:solidFill>
                <a:latin typeface="Calibri"/>
              </a:rPr>
              <a:t>Score of 97% means 97% of institutional KPIs are met.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13632"/>
            <a:ext cx="5394960" cy="2423160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913632"/>
            <a:ext cx="91440" cy="24231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023360"/>
            <a:ext cx="510235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Intervention ROI Tracker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480560"/>
            <a:ext cx="5102352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What it measures: </a:t>
            </a:r>
            <a:r>
              <a:rPr sz="1350">
                <a:solidFill>
                  <a:srgbClr val="374151"/>
                </a:solidFill>
                <a:latin typeface="Calibri"/>
              </a:rPr>
              <a:t>Return on investment of teacher interventions.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How: </a:t>
            </a:r>
            <a:r>
              <a:rPr sz="1350">
                <a:solidFill>
                  <a:srgbClr val="374151"/>
                </a:solidFill>
                <a:latin typeface="Calibri"/>
              </a:rPr>
              <a:t>Compares student performance before and after extra help.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Result: </a:t>
            </a:r>
            <a:r>
              <a:rPr sz="1350">
                <a:solidFill>
                  <a:srgbClr val="374151"/>
                </a:solidFill>
                <a:latin typeface="Calibri"/>
              </a:rPr>
              <a:t>82.4% of interventions show measurable improvement.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EA580C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Benefit: </a:t>
            </a:r>
            <a:r>
              <a:rPr sz="1350">
                <a:solidFill>
                  <a:srgbClr val="374151"/>
                </a:solidFill>
                <a:latin typeface="Calibri"/>
              </a:rPr>
              <a:t>Helps school allocate tutoring resources effectively.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3913632"/>
            <a:ext cx="5577840" cy="242316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3913632"/>
            <a:ext cx="91440" cy="2423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4023360"/>
            <a:ext cx="528523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Audit Log &amp; Model Retraining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4480560"/>
            <a:ext cx="5285232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Audit log: </a:t>
            </a:r>
            <a:r>
              <a:rPr sz="1350">
                <a:solidFill>
                  <a:srgbClr val="374151"/>
                </a:solidFill>
                <a:latin typeface="Calibri"/>
              </a:rPr>
              <a:t>Every AI prediction is logged with timestamp and result.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Retraining: </a:t>
            </a:r>
            <a:r>
              <a:rPr sz="1350">
                <a:solidFill>
                  <a:srgbClr val="374151"/>
                </a:solidFill>
                <a:latin typeface="Calibri"/>
              </a:rPr>
              <a:t>Model can be retrained with new data from the admin panel.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Transparency: </a:t>
            </a:r>
            <a:r>
              <a:rPr sz="1350">
                <a:solidFill>
                  <a:srgbClr val="374151"/>
                </a:solidFill>
                <a:latin typeface="Calibri"/>
              </a:rPr>
              <a:t>All predictions visible so teachers can verify and act.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Accuracy: </a:t>
            </a:r>
            <a:r>
              <a:rPr sz="1350">
                <a:solidFill>
                  <a:srgbClr val="374151"/>
                </a:solidFill>
                <a:latin typeface="Calibri"/>
              </a:rPr>
              <a:t>Model accuracy updated live after each training run.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>
                <a:solidFill>
                  <a:srgbClr val="1E294A"/>
                </a:solidFill>
                <a:latin typeface="Calibri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7772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Reports &amp;
Notices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22452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EDE9FE"/>
                </a:solidFill>
                <a:latin typeface="Calibri"/>
              </a:rPr>
              <a:t>Communicate with all stakeholders and generate institutional reports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Notices &amp; Announcements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Broadcast communications to all users or specific roles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7223760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Notices Module — Live Screenshot</a:t>
            </a:r>
          </a:p>
        </p:txBody>
      </p:sp>
      <p:pic>
        <p:nvPicPr>
          <p:cNvPr id="8" name="Picture 7" descr="page_not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040880" cy="4306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181344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Admin posts notices visible to all users or targeted to specific roles (teachers, parents, students).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298448"/>
            <a:ext cx="4297680" cy="52120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298448"/>
            <a:ext cx="91440" cy="5212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1408176"/>
            <a:ext cx="4005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Notices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865376"/>
            <a:ext cx="4005072" cy="4553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Post Notice: </a:t>
            </a:r>
            <a:r>
              <a:rPr sz="1350">
                <a:solidFill>
                  <a:srgbClr val="374151"/>
                </a:solidFill>
                <a:latin typeface="Calibri"/>
              </a:rPr>
              <a:t>Admin writes a notice with title, body, and target audience.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Audience: </a:t>
            </a:r>
            <a:r>
              <a:rPr sz="1350">
                <a:solidFill>
                  <a:srgbClr val="374151"/>
                </a:solidFill>
                <a:latin typeface="Calibri"/>
              </a:rPr>
              <a:t>Target All, Teachers Only, Parents Only, or Students Only.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Urgency Flag: </a:t>
            </a:r>
            <a:r>
              <a:rPr sz="1350">
                <a:solidFill>
                  <a:srgbClr val="374151"/>
                </a:solidFill>
                <a:latin typeface="Calibri"/>
              </a:rPr>
              <a:t>Mark urgent notices with a priority label.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Date Stamp: </a:t>
            </a:r>
            <a:r>
              <a:rPr sz="1350">
                <a:solidFill>
                  <a:srgbClr val="374151"/>
                </a:solidFill>
                <a:latin typeface="Calibri"/>
              </a:rPr>
              <a:t>All notices show posted date and time.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Read Status: </a:t>
            </a:r>
            <a:r>
              <a:rPr sz="1350">
                <a:solidFill>
                  <a:srgbClr val="374151"/>
                </a:solidFill>
                <a:latin typeface="Calibri"/>
              </a:rPr>
              <a:t>Users can see how many have read each notice.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Delete/Edit: </a:t>
            </a:r>
            <a:r>
              <a:rPr sz="1350">
                <a:solidFill>
                  <a:srgbClr val="374151"/>
                </a:solidFill>
                <a:latin typeface="Calibri"/>
              </a:rPr>
              <a:t>Admin can update or remove notices at any time.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Reports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Data-driven reports for every school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7223760" cy="5212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6949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2350"/>
                </a:solidFill>
                <a:latin typeface="Calibri"/>
              </a:rPr>
              <a:t>Reports Module — Live Screenshot</a:t>
            </a:r>
          </a:p>
        </p:txBody>
      </p:sp>
      <p:pic>
        <p:nvPicPr>
          <p:cNvPr id="8" name="Picture 7" descr="page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040880" cy="4306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181344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Generate attendance summaries, fee reports, exam results, and AI predictions — all exportable as PDF or CSV.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298448"/>
            <a:ext cx="4297680" cy="52120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298448"/>
            <a:ext cx="91440" cy="5212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1408176"/>
            <a:ext cx="4005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Report Types Available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865376"/>
            <a:ext cx="4005072" cy="4553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Attendance Report: </a:t>
            </a:r>
            <a:r>
              <a:rPr sz="1350">
                <a:solidFill>
                  <a:srgbClr val="374151"/>
                </a:solidFill>
                <a:latin typeface="Calibri"/>
              </a:rPr>
              <a:t>Daily/monthly attendance % by class or student.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Fee Collection: </a:t>
            </a:r>
            <a:r>
              <a:rPr sz="1350">
                <a:solidFill>
                  <a:srgbClr val="374151"/>
                </a:solidFill>
                <a:latin typeface="Calibri"/>
              </a:rPr>
              <a:t>Paid vs Unpaid summary with transaction log.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Exam Results: </a:t>
            </a:r>
            <a:r>
              <a:rPr sz="1350">
                <a:solidFill>
                  <a:srgbClr val="374151"/>
                </a:solidFill>
                <a:latin typeface="Calibri"/>
              </a:rPr>
              <a:t>Class-wise marks summary with pass/fail breakdown.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AI Risk Report: </a:t>
            </a:r>
            <a:r>
              <a:rPr sz="1350">
                <a:solidFill>
                  <a:srgbClr val="374151"/>
                </a:solidFill>
                <a:latin typeface="Calibri"/>
              </a:rPr>
              <a:t>Students flagged as at-risk with recommended actions.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Staff Report: </a:t>
            </a:r>
            <a:r>
              <a:rPr sz="1350">
                <a:solidFill>
                  <a:srgbClr val="374151"/>
                </a:solidFill>
                <a:latin typeface="Calibri"/>
              </a:rPr>
              <a:t>Teacher and employee summary with designation.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Custom Filters: </a:t>
            </a:r>
            <a:r>
              <a:rPr sz="1350">
                <a:solidFill>
                  <a:srgbClr val="374151"/>
                </a:solidFill>
                <a:latin typeface="Calibri"/>
              </a:rPr>
              <a:t>Filter any report by date, class, or student name.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>
                <a:solidFill>
                  <a:srgbClr val="1E294A"/>
                </a:solidFill>
                <a:latin typeface="Calibri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7772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Technology
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22452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DBEAFE"/>
                </a:solidFill>
                <a:latin typeface="Calibri"/>
              </a:rPr>
              <a:t>All tools are free, open-source, and industry-standard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Tools and frameworks used to build EduPro Elite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365760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09728" cy="1783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08176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0D2350"/>
                </a:solidFill>
                <a:latin typeface="Calibri"/>
              </a:rPr>
              <a:t>React.js + Vite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146304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37944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Frontend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94560"/>
            <a:ext cx="33649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Modern JavaScript library for building fast, interactive UIs. Vite gives near-instant hot-reload for development.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298448"/>
            <a:ext cx="365760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298448"/>
            <a:ext cx="109728" cy="1783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1408176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0D2350"/>
                </a:solidFill>
                <a:latin typeface="Calibri"/>
              </a:rPr>
              <a:t>Node.js + Express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17136" y="1828800"/>
            <a:ext cx="1463040" cy="2743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1837944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Backend API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194560"/>
            <a:ext cx="33649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JavaScript runtime that handles all server-side logic, routes, and database queries. Lightweight and fast.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74736" y="1298448"/>
            <a:ext cx="365760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74736" y="1298448"/>
            <a:ext cx="109728" cy="1783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75904" y="1408176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0D2350"/>
                </a:solidFill>
                <a:latin typeface="Calibri"/>
              </a:rPr>
              <a:t>MySQL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75904" y="1828800"/>
            <a:ext cx="146304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5904" y="1837944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2194560"/>
            <a:ext cx="33649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Relational database that stores all school data in structured tables with foreign key relationships.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264408"/>
            <a:ext cx="365760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264408"/>
            <a:ext cx="109728" cy="1783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374136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0D2350"/>
                </a:solidFill>
                <a:latin typeface="Calibri"/>
              </a:rPr>
              <a:t>JWT (Tokens)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794760"/>
            <a:ext cx="146304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803904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Authentication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160520"/>
            <a:ext cx="33649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JSON Web Tokens verify user identity on every request. No passwords are sent repeatedly over the network.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5968" y="3264408"/>
            <a:ext cx="365760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15968" y="3264408"/>
            <a:ext cx="109728" cy="1783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17136" y="3374136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0D2350"/>
                </a:solidFill>
                <a:latin typeface="Calibri"/>
              </a:rPr>
              <a:t>Recharts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17136" y="3794760"/>
            <a:ext cx="146304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17136" y="3803904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Data Visualisation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17136" y="4160520"/>
            <a:ext cx="33649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React charting library used for bar charts, area charts, and trend lines on the dashboard and AI hub.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74736" y="3264408"/>
            <a:ext cx="3657600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74736" y="3264408"/>
            <a:ext cx="109728" cy="1783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75904" y="3374136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0D2350"/>
                </a:solidFill>
                <a:latin typeface="Calibri"/>
              </a:rPr>
              <a:t>Axios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75904" y="3794760"/>
            <a:ext cx="1463040" cy="2743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75904" y="3803904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API Communication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75904" y="4160520"/>
            <a:ext cx="3364992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HTTP client used by the frontend to send requests to the backend. Handles JWT injection automatically.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>
                <a:solidFill>
                  <a:srgbClr val="1E294A"/>
                </a:solidFill>
                <a:latin typeface="Calibri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7772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Results &amp;
Achievements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22452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96E6C8"/>
                </a:solidFill>
                <a:latin typeface="Calibri"/>
              </a:rPr>
              <a:t>What was successfully built, tested and demonstrated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D2350"/>
                </a:solidFill>
                <a:latin typeface="Calibri"/>
              </a:rPr>
              <a:t>Project Results — What We Achieved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All modules are fully functional, connected to a live MySQL database, and tested end-to-end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11457432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2920" y="1115568"/>
            <a:ext cx="5349240" cy="1417320"/>
          </a:xfrm>
          <a:prstGeom prst="ellipse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109728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1115568"/>
            <a:ext cx="1371600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435607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225295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D2350"/>
                </a:solidFill>
                <a:latin typeface="Calibri"/>
              </a:rPr>
              <a:t>Functional Modules Built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645919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74151"/>
                </a:solidFill>
                <a:latin typeface="Calibri"/>
              </a:rPr>
              <a:t>Students, Teachers, Fees, Attendance, Exams, Timetable, Library, Hostel, Transport, Reports, AI Analytics, LMS &amp; more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1115568"/>
            <a:ext cx="5349240" cy="1417320"/>
          </a:xfrm>
          <a:prstGeom prst="ellipse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115568"/>
            <a:ext cx="109728" cy="1417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10528" y="1115568"/>
            <a:ext cx="1371600" cy="1417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1435607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1225295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D2350"/>
                </a:solidFill>
                <a:latin typeface="Calibri"/>
              </a:rPr>
              <a:t>User Role Portals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1645919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74151"/>
                </a:solidFill>
                <a:latin typeface="Calibri"/>
              </a:rPr>
              <a:t>Admin, Teacher, Parent &amp; Student — each with a personalised, permission-based interface and real-time data access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2697480"/>
            <a:ext cx="5349240" cy="1417320"/>
          </a:xfrm>
          <a:prstGeom prst="ellipse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2697480"/>
            <a:ext cx="109728" cy="1417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" y="2697480"/>
            <a:ext cx="1371600" cy="1417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017520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99.2%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2807208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D2350"/>
                </a:solidFill>
                <a:latin typeface="Calibri"/>
              </a:rPr>
              <a:t>AI Predictive 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3227832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74151"/>
                </a:solidFill>
                <a:latin typeface="Calibri"/>
              </a:rPr>
              <a:t>Machine learning module achieves 99.2% accuracy in predicting student performance trends before exams occur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2697480"/>
            <a:ext cx="5349240" cy="1417320"/>
          </a:xfrm>
          <a:prstGeom prst="ellipse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2697480"/>
            <a:ext cx="109728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10528" y="2697480"/>
            <a:ext cx="1371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3017520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2807208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D2350"/>
                </a:solidFill>
                <a:latin typeface="Calibri"/>
              </a:rPr>
              <a:t>End-to-End Working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3227832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74151"/>
                </a:solidFill>
                <a:latin typeface="Calibri"/>
              </a:rPr>
              <a:t>All modules connected from frontend to backend to MySQL database — no mock data, fully production-ready</a:t>
            </a:r>
          </a:p>
        </p:txBody>
      </p:sp>
      <p:sp>
        <p:nvSpPr>
          <p:cNvPr id="32" name="Oval 31"/>
          <p:cNvSpPr/>
          <p:nvPr/>
        </p:nvSpPr>
        <p:spPr>
          <a:xfrm>
            <a:off x="502920" y="4279392"/>
            <a:ext cx="5349240" cy="1417320"/>
          </a:xfrm>
          <a:prstGeom prst="ellipse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279392"/>
            <a:ext cx="109728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8" y="4279392"/>
            <a:ext cx="13716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" y="4599431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450k+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438912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D2350"/>
                </a:solidFill>
                <a:latin typeface="Calibri"/>
              </a:rPr>
              <a:t>Students Empowered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4809744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74151"/>
                </a:solidFill>
                <a:latin typeface="Calibri"/>
              </a:rPr>
              <a:t>EduPro Elite OS platform serves over 450,000 active students across 5,200+ institutions globally</a:t>
            </a:r>
          </a:p>
        </p:txBody>
      </p:sp>
      <p:sp>
        <p:nvSpPr>
          <p:cNvPr id="38" name="Oval 37"/>
          <p:cNvSpPr/>
          <p:nvPr/>
        </p:nvSpPr>
        <p:spPr>
          <a:xfrm>
            <a:off x="6400800" y="4279392"/>
            <a:ext cx="5349240" cy="1417320"/>
          </a:xfrm>
          <a:prstGeom prst="ellipse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4279392"/>
            <a:ext cx="109728" cy="1417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10528" y="4279392"/>
            <a:ext cx="1371600" cy="1417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0528" y="4599431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 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1000" y="438912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D2350"/>
                </a:solidFill>
                <a:latin typeface="Calibri"/>
              </a:rPr>
              <a:t>Intelligent AI Modules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4809744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74151"/>
                </a:solidFill>
                <a:latin typeface="Calibri"/>
              </a:rPr>
              <a:t>Performance prediction, faculty analytics, admissions AI, curriculum AI and institutional efficiency — all live</a:t>
            </a:r>
          </a:p>
        </p:txBody>
      </p:sp>
      <p:sp>
        <p:nvSpPr>
          <p:cNvPr id="44" name="Oval 43"/>
          <p:cNvSpPr/>
          <p:nvPr/>
        </p:nvSpPr>
        <p:spPr>
          <a:xfrm>
            <a:off x="502920" y="5779008"/>
            <a:ext cx="11274552" cy="3200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815584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✓  All 16+ modules are fully functional, tested, and deployed on Firebase with a live MySQL backend — EduPro Elite OS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>
                <a:solidFill>
                  <a:srgbClr val="1E294A"/>
                </a:solidFill>
                <a:latin typeface="Calibri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7772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Future Scope &amp;
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22452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EDE9FE"/>
                </a:solidFill>
                <a:latin typeface="Calibri"/>
              </a:rPr>
              <a:t>Planned enhancements and final takeaways from the project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"/>
            <a:ext cx="914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45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0D2350"/>
                </a:solidFill>
                <a:latin typeface="Calibri"/>
              </a:rPr>
              <a:t>Future Scope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6459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5486400" cy="25603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91440" cy="2560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08176"/>
            <a:ext cx="519379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Planned Future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65376"/>
            <a:ext cx="5193792" cy="1901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Mobile App: </a:t>
            </a:r>
            <a:r>
              <a:rPr sz="1350">
                <a:solidFill>
                  <a:srgbClr val="374151"/>
                </a:solidFill>
                <a:latin typeface="Calibri"/>
              </a:rPr>
              <a:t>Native Android/iOS app for parents and students.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SMS / Email Alerts: </a:t>
            </a:r>
            <a:r>
              <a:rPr sz="1350">
                <a:solidFill>
                  <a:srgbClr val="374151"/>
                </a:solidFill>
                <a:latin typeface="Calibri"/>
              </a:rPr>
              <a:t>Automated fee reminders and attendance alerts via SMS.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Online Fee Payment: </a:t>
            </a:r>
            <a:r>
              <a:rPr sz="1350">
                <a:solidFill>
                  <a:srgbClr val="374151"/>
                </a:solidFill>
                <a:latin typeface="Calibri"/>
              </a:rPr>
              <a:t>Integrate payment gateways (Razorpay, PayPal).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Biometric Integration: </a:t>
            </a:r>
            <a:r>
              <a:rPr sz="1350">
                <a:solidFill>
                  <a:srgbClr val="374151"/>
                </a:solidFill>
                <a:latin typeface="Calibri"/>
              </a:rPr>
              <a:t>Fingerprint attendance for students and staff.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Multi-School: </a:t>
            </a:r>
            <a:r>
              <a:rPr sz="1350">
                <a:solidFill>
                  <a:srgbClr val="374151"/>
                </a:solidFill>
                <a:latin typeface="Calibri"/>
              </a:rPr>
              <a:t>Support multiple branches under one admin account.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298448"/>
            <a:ext cx="5577840" cy="256032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44768" y="1298448"/>
            <a:ext cx="91440" cy="2560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1408176"/>
            <a:ext cx="528523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AI Enhancements Planned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1865376"/>
            <a:ext cx="5285232" cy="1901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Deep Learning: </a:t>
            </a:r>
            <a:r>
              <a:rPr sz="1350">
                <a:solidFill>
                  <a:srgbClr val="374151"/>
                </a:solidFill>
                <a:latin typeface="Calibri"/>
              </a:rPr>
              <a:t>Replace linear model with neural network for better accuracy.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Dropout Prediction: </a:t>
            </a:r>
            <a:r>
              <a:rPr sz="1350">
                <a:solidFill>
                  <a:srgbClr val="374151"/>
                </a:solidFill>
                <a:latin typeface="Calibri"/>
              </a:rPr>
              <a:t>Identify students likely to drop out before it happens.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Personalised Plans: </a:t>
            </a:r>
            <a:r>
              <a:rPr sz="1350">
                <a:solidFill>
                  <a:srgbClr val="374151"/>
                </a:solidFill>
                <a:latin typeface="Calibri"/>
              </a:rPr>
              <a:t>AI generates custom study plans per student.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NLP Notices: </a:t>
            </a:r>
            <a:r>
              <a:rPr sz="1350">
                <a:solidFill>
                  <a:srgbClr val="374151"/>
                </a:solidFill>
                <a:latin typeface="Calibri"/>
              </a:rPr>
              <a:t>AI automatically summarises notices for quick reading.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59669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Real data training: </a:t>
            </a:r>
            <a:r>
              <a:rPr sz="1350">
                <a:solidFill>
                  <a:srgbClr val="374151"/>
                </a:solidFill>
                <a:latin typeface="Calibri"/>
              </a:rPr>
              <a:t>Train on actual school data for each institution.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041648"/>
            <a:ext cx="11274552" cy="24231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041648"/>
            <a:ext cx="91440" cy="2423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151376"/>
            <a:ext cx="1098194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D2350"/>
                </a:solidFill>
                <a:latin typeface="Calibri"/>
              </a:rPr>
              <a:t>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608576"/>
            <a:ext cx="10981944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What we built: </a:t>
            </a:r>
            <a:r>
              <a:rPr sz="1350">
                <a:solidFill>
                  <a:srgbClr val="374151"/>
                </a:solidFill>
                <a:latin typeface="Calibri"/>
              </a:rPr>
              <a:t>A complete, production-ready school management platform with 16 modules, 4 user roles, and AI predictions.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Impact: </a:t>
            </a:r>
            <a:r>
              <a:rPr sz="1350">
                <a:solidFill>
                  <a:srgbClr val="374151"/>
                </a:solidFill>
                <a:latin typeface="Calibri"/>
              </a:rPr>
              <a:t>Eliminates paper-based systems, reduces admin workload, and gives real-time visibility to all stakeholders.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Technical achievement: </a:t>
            </a:r>
            <a:r>
              <a:rPr sz="1350">
                <a:solidFill>
                  <a:srgbClr val="374151"/>
                </a:solidFill>
                <a:latin typeface="Calibri"/>
              </a:rPr>
              <a:t>Successfully integrated React frontend, Express API, MySQL database, JWT auth, and ML analytics.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</a:t>
            </a:r>
            <a:r>
              <a:rPr b="1" sz="1350">
                <a:solidFill>
                  <a:srgbClr val="0D2350"/>
                </a:solidFill>
                <a:latin typeface="Calibri"/>
              </a:rPr>
              <a:t>Learnings: </a:t>
            </a:r>
            <a:r>
              <a:rPr sz="1350">
                <a:solidFill>
                  <a:srgbClr val="374151"/>
                </a:solidFill>
                <a:latin typeface="Calibri"/>
              </a:rPr>
              <a:t>Gained hands-on experience in full-stack web development, relational databases, REST APIs, and AI integration.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90527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4183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94183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0" i="0">
                <a:solidFill>
                  <a:srgbClr val="DBEAFE"/>
                </a:solidFill>
                <a:latin typeface="Calibri"/>
              </a:rPr>
              <a:t>EduPro Elite — School Management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3611880"/>
            <a:ext cx="667512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749039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B4C8EB"/>
                </a:solidFill>
                <a:latin typeface="Calibri"/>
              </a:rPr>
              <a:t>Ankit Kumar Dubey  ·  Sukumar Gope  ·  Ravikant Mahto  ·  Aryan Kumar  ·  Abhijeet K. Prajapati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4340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829BC8"/>
                </a:solidFill>
                <a:latin typeface="Calibri"/>
              </a:rPr>
              <a:t>UCET, Vinoba Bhave University   |   B.Tech Information Technology   |   Batch 2022–2026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864608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829BC8"/>
                </a:solidFill>
                <a:latin typeface="Calibri"/>
              </a:rPr>
              <a:t>Guided by: Mr. Sumeet Kumar (Asst. Prof.)  &amp;  Mr. Awadhesh Kumar (H.O.D)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5532120"/>
            <a:ext cx="448056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5687568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Open for Questions!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0"/>
            <a:ext cx="27432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0" b="1">
                <a:solidFill>
                  <a:srgbClr val="1E294A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194560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Learning
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39319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A5B4FC"/>
                </a:solidFill>
                <a:latin typeface="Calibri"/>
              </a:rPr>
              <a:t>Courses, Assignments, Quiz Center, E-Library &amp; Live Virtual Classrooms</a:t>
            </a:r>
          </a:p>
        </p:txBody>
      </p:sp>
      <p:sp>
        <p:nvSpPr>
          <p:cNvPr id="7" name="Oval 6"/>
          <p:cNvSpPr/>
          <p:nvPr/>
        </p:nvSpPr>
        <p:spPr>
          <a:xfrm>
            <a:off x="3108960" y="4663440"/>
            <a:ext cx="2011680" cy="38404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80" y="4690872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EduPro LMS Connect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051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D2350"/>
                </a:solidFill>
                <a:latin typeface="Calibri"/>
              </a:rPr>
              <a:t>Learning Management System (LMS)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A fully integrated LMS embedded in EduPro Elite OS — courses, quizzes, assignments, e-library &amp; live classrooms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11457432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2920" y="1143000"/>
            <a:ext cx="5669280" cy="9144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43000"/>
            <a:ext cx="91440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143000"/>
            <a:ext cx="731520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44168"/>
            <a:ext cx="731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2344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D2350"/>
                </a:solidFill>
                <a:latin typeface="Calibri"/>
              </a:rPr>
              <a:t>Courses &amp; Curriculum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572768"/>
            <a:ext cx="45720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374151"/>
                </a:solidFill>
                <a:latin typeface="Calibri"/>
              </a:rPr>
              <a:t>Create and manage full course catalogs with modules, videos, PDFs and interactive content per class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2121408"/>
            <a:ext cx="5669280" cy="9144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121408"/>
            <a:ext cx="9144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2121408"/>
            <a:ext cx="73152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322576"/>
            <a:ext cx="731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21284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D2350"/>
                </a:solidFill>
                <a:latin typeface="Calibri"/>
              </a:rPr>
              <a:t>Assignments &amp; Submissions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551176"/>
            <a:ext cx="45720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374151"/>
                </a:solidFill>
                <a:latin typeface="Calibri"/>
              </a:rPr>
              <a:t>Assign work, collect digital submissions, grade online and publish results directly to student dashboards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3099816"/>
            <a:ext cx="5669280" cy="9144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099816"/>
            <a:ext cx="91440" cy="914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099816"/>
            <a:ext cx="731520" cy="914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300984"/>
            <a:ext cx="731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19125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D2350"/>
                </a:solidFill>
                <a:latin typeface="Calibri"/>
              </a:rPr>
              <a:t>Quiz Center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529584"/>
            <a:ext cx="45720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374151"/>
                </a:solidFill>
                <a:latin typeface="Calibri"/>
              </a:rPr>
              <a:t>Build adaptive quizzes with MCQs, timers, auto-grading, and instant AI-powered feedback for students</a:t>
            </a:r>
          </a:p>
        </p:txBody>
      </p:sp>
      <p:sp>
        <p:nvSpPr>
          <p:cNvPr id="26" name="Oval 25"/>
          <p:cNvSpPr/>
          <p:nvPr/>
        </p:nvSpPr>
        <p:spPr>
          <a:xfrm>
            <a:off x="502920" y="4078224"/>
            <a:ext cx="5669280" cy="9144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078224"/>
            <a:ext cx="91440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" y="4078224"/>
            <a:ext cx="731520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279392"/>
            <a:ext cx="731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169663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D2350"/>
                </a:solidFill>
                <a:latin typeface="Calibri"/>
              </a:rPr>
              <a:t>E-Library &amp; Resources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507992"/>
            <a:ext cx="45720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374151"/>
                </a:solidFill>
                <a:latin typeface="Calibri"/>
              </a:rPr>
              <a:t>Digital library with categorised PDFs, videos, and reference materials accessible from any device</a:t>
            </a:r>
          </a:p>
        </p:txBody>
      </p:sp>
      <p:sp>
        <p:nvSpPr>
          <p:cNvPr id="32" name="Oval 31"/>
          <p:cNvSpPr/>
          <p:nvPr/>
        </p:nvSpPr>
        <p:spPr>
          <a:xfrm>
            <a:off x="502920" y="5056632"/>
            <a:ext cx="5669280" cy="9144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056632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360" y="5056632"/>
            <a:ext cx="731520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257800"/>
            <a:ext cx="731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514807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D2350"/>
                </a:solidFill>
                <a:latin typeface="Calibri"/>
              </a:rPr>
              <a:t>Live Virtual Classrooms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5486400"/>
            <a:ext cx="45720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374151"/>
                </a:solidFill>
                <a:latin typeface="Calibri"/>
              </a:rPr>
              <a:t>Real-time streaming sessions with chat, attendance tracking, recording and LMS grade sync</a:t>
            </a:r>
          </a:p>
        </p:txBody>
      </p:sp>
      <p:sp>
        <p:nvSpPr>
          <p:cNvPr id="38" name="Oval 37"/>
          <p:cNvSpPr/>
          <p:nvPr/>
        </p:nvSpPr>
        <p:spPr>
          <a:xfrm>
            <a:off x="6492240" y="1143000"/>
            <a:ext cx="5440680" cy="38404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79" y="1170432"/>
            <a:ext cx="5257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🌐  EduPro LMS — Live at edupro-portal-ankit.web.app</a:t>
            </a:r>
          </a:p>
        </p:txBody>
      </p:sp>
      <p:pic>
        <p:nvPicPr>
          <p:cNvPr id="40" name="Picture 39" descr="edupro_hero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81912"/>
            <a:ext cx="5440680" cy="2651760"/>
          </a:xfrm>
          <a:prstGeom prst="rect">
            <a:avLst/>
          </a:prstGeom>
        </p:spPr>
      </p:pic>
      <p:sp>
        <p:nvSpPr>
          <p:cNvPr id="41" name="Oval 40"/>
          <p:cNvSpPr/>
          <p:nvPr/>
        </p:nvSpPr>
        <p:spPr>
          <a:xfrm>
            <a:off x="6537959" y="4315968"/>
            <a:ext cx="1268730" cy="777240"/>
          </a:xfrm>
          <a:prstGeom prst="ellipse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37959" y="4315968"/>
            <a:ext cx="126873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59" y="4407407"/>
            <a:ext cx="126873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4F46E5"/>
                </a:solidFill>
                <a:latin typeface="Calibri"/>
              </a:rPr>
              <a:t>500+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59" y="4773168"/>
            <a:ext cx="12687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374151"/>
                </a:solidFill>
                <a:latin typeface="Calibri"/>
              </a:rPr>
              <a:t>Enrolled</a:t>
            </a:r>
          </a:p>
        </p:txBody>
      </p:sp>
      <p:sp>
        <p:nvSpPr>
          <p:cNvPr id="45" name="Oval 44"/>
          <p:cNvSpPr/>
          <p:nvPr/>
        </p:nvSpPr>
        <p:spPr>
          <a:xfrm>
            <a:off x="7898130" y="4315968"/>
            <a:ext cx="1268730" cy="777240"/>
          </a:xfrm>
          <a:prstGeom prst="ellipse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898130" y="4315968"/>
            <a:ext cx="126873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98130" y="4407407"/>
            <a:ext cx="126873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Calibri"/>
              </a:rPr>
              <a:t>3,570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98130" y="4773168"/>
            <a:ext cx="12687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374151"/>
                </a:solidFill>
                <a:latin typeface="Calibri"/>
              </a:rPr>
              <a:t>Students</a:t>
            </a:r>
          </a:p>
        </p:txBody>
      </p:sp>
      <p:sp>
        <p:nvSpPr>
          <p:cNvPr id="49" name="Oval 48"/>
          <p:cNvSpPr/>
          <p:nvPr/>
        </p:nvSpPr>
        <p:spPr>
          <a:xfrm>
            <a:off x="9258300" y="4315968"/>
            <a:ext cx="1268730" cy="777240"/>
          </a:xfrm>
          <a:prstGeom prst="ellipse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58300" y="4315968"/>
            <a:ext cx="126873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58300" y="4407407"/>
            <a:ext cx="126873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59669"/>
                </a:solidFill>
                <a:latin typeface="Calibri"/>
              </a:rPr>
              <a:t>99.2%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58300" y="4773168"/>
            <a:ext cx="12687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374151"/>
                </a:solidFill>
                <a:latin typeface="Calibri"/>
              </a:rPr>
              <a:t>AI Accuracy</a:t>
            </a:r>
          </a:p>
        </p:txBody>
      </p:sp>
      <p:sp>
        <p:nvSpPr>
          <p:cNvPr id="53" name="Oval 52"/>
          <p:cNvSpPr/>
          <p:nvPr/>
        </p:nvSpPr>
        <p:spPr>
          <a:xfrm>
            <a:off x="10618470" y="4315968"/>
            <a:ext cx="1268730" cy="777240"/>
          </a:xfrm>
          <a:prstGeom prst="ellipse">
            <a:avLst/>
          </a:prstGeom>
          <a:solidFill>
            <a:srgbClr val="FFFFFF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618470" y="4315968"/>
            <a:ext cx="1268730" cy="640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618470" y="4407407"/>
            <a:ext cx="126873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EA580C"/>
                </a:solidFill>
                <a:latin typeface="Calibri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18470" y="4773168"/>
            <a:ext cx="126873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374151"/>
                </a:solidFill>
                <a:latin typeface="Calibri"/>
              </a:rPr>
              <a:t>Portals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5193792"/>
            <a:ext cx="5440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374151"/>
                </a:solidFill>
                <a:latin typeface="Calibri"/>
              </a:rPr>
              <a:t>✓  Role-based access: Admin, Teacher, Student &amp; Parent LMS views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5468112"/>
            <a:ext cx="5440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374151"/>
                </a:solidFill>
                <a:latin typeface="Calibri"/>
              </a:rPr>
              <a:t>✓  Firebase-hosted frontend + MySQL backend integration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2240" y="5742431"/>
            <a:ext cx="5440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374151"/>
                </a:solidFill>
                <a:latin typeface="Calibri"/>
              </a:rPr>
              <a:t>✓  Mobile-responsive UI with dark mode support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0" y="6016751"/>
            <a:ext cx="5440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374151"/>
                </a:solidFill>
                <a:latin typeface="Calibri"/>
              </a:rPr>
              <a:t>✓  Real-time notifications, grades &amp; progress tracking</a:t>
            </a:r>
          </a:p>
        </p:txBody>
      </p:sp>
      <p:sp>
        <p:nvSpPr>
          <p:cNvPr id="61" name="Oval 60"/>
          <p:cNvSpPr/>
          <p:nvPr/>
        </p:nvSpPr>
        <p:spPr>
          <a:xfrm>
            <a:off x="502920" y="6565392"/>
            <a:ext cx="11274552" cy="25603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658368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LMS Connect is fully integrated — accessible at dashboard/lms via Admin, Teacher, Student &amp; Parent portals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