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188720" cy="1188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15214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0"/>
            <a:ext cx="86868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EduPro Elite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84831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0" i="0">
                <a:solidFill>
                  <a:srgbClr val="DBEAFE"/>
                </a:solidFill>
                <a:latin typeface="Calibri"/>
              </a:rPr>
              <a:t>School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78892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AFC8EB"/>
                </a:solidFill>
                <a:latin typeface="Calibri"/>
              </a:rPr>
              <a:t>A complete digital platform to manage every aspect of school administration —
students, teachers, fees, attendance, exams, transport, hostel, library and AI analytics.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767328"/>
            <a:ext cx="8686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1680" y="3886200"/>
            <a:ext cx="4160520" cy="2286000"/>
          </a:xfrm>
          <a:prstGeom prst="roundRect">
            <a:avLst/>
          </a:prstGeom>
          <a:solidFill>
            <a:srgbClr val="14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400507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TEAM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370832"/>
            <a:ext cx="38404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Ankit Kumar Dubey  (2211108)
Sukumar Gope  (2211157)
Ravikant Mahto  (2211135)
Aryan Kumar  (2211146)
Abhijeet K. Prajapati  (2211102)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86200"/>
            <a:ext cx="4251960" cy="2286000"/>
          </a:xfrm>
          <a:prstGeom prst="roundRect">
            <a:avLst/>
          </a:prstGeom>
          <a:solidFill>
            <a:srgbClr val="14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00507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PROJECT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370832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Mr. Sumeet Kumar
Assistant Professor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16636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Mr. Awadhesh Kumar
Head of 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6217920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829BC8"/>
                </a:solidFill>
                <a:latin typeface="Calibri"/>
              </a:rPr>
              <a:t>UCET, Vinoba Bhave University  |  B.Tech Information Technology  |  Batch 2022–2026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0817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3–5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29844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29844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29844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37160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Our Solution — EduPro Elite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8208" y="140817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6–7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84708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4708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84708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192024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System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95681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8–9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184708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184708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84708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92024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Login &amp; Role-Based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8208" y="195681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10–11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39572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39572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39572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246888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Admin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250545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12–13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239572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39572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239572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246888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Student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08208" y="250545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14–15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94436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294436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94436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301752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Teacher &amp; Staff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305409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16–17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294436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6208" y="294436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8" y="294436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301752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Fee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08208" y="305409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18–19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49300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349300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49300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356616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Attendance Tracking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360273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20–21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36208" y="349300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36208" y="349300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6208" y="349300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356616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Exams &amp; Timetable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08208" y="360273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22–23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04164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404164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04164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" y="411480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Library &amp; Hostel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0" y="415137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24–25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36208" y="404164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36208" y="404164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36208" y="404164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30568" y="411480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Transport Management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08208" y="415137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26–27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459028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" y="459028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59028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" y="466344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AI Analytics Hub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470001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28–30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36208" y="459028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36208" y="459028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36208" y="459028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30568" y="466344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Reports &amp; Notices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08208" y="470001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31–32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513892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57200" y="513892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13892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1560" y="521208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Technology Stack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0" y="524865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33–34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36208" y="513892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236208" y="513892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36208" y="513892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30568" y="521208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Results &amp; Achievements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808208" y="524865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35–36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568756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57200" y="568756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568756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1560" y="576072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Future Scope &amp; Conclusion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0" y="579729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37–38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36208" y="568756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236208" y="568756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36208" y="568756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30568" y="576072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Thank You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808208" y="579729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193264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7772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Introduction &amp;
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11480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DBEAFE"/>
                </a:solidFill>
                <a:latin typeface="Calibri"/>
              </a:rPr>
              <a:t>Understanding the challenges schools face without digital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The Problems in Traditional Schools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09728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99032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0D2350"/>
                </a:solidFill>
                <a:latin typeface="Calibri"/>
              </a:rPr>
              <a:t>Paper 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56232"/>
            <a:ext cx="33649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Attendance and marks are written by hand — easy to lose, tamper, or misplace.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61872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61872"/>
            <a:ext cx="109728" cy="1783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399032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0D2350"/>
                </a:solidFill>
                <a:latin typeface="Calibri"/>
              </a:rPr>
              <a:t>Manual Fee Receipts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856232"/>
            <a:ext cx="33649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Fee collection tracked in notebooks — nearly impossible to audit or generate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61872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61872"/>
            <a:ext cx="109728" cy="1783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399032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0D2350"/>
                </a:solidFill>
                <a:latin typeface="Calibri"/>
              </a:rPr>
              <a:t>Poor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856232"/>
            <a:ext cx="33649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Parents receive no real-time updates about their child's attendance, marks, or notices.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46120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109728" cy="1783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38328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0D2350"/>
                </a:solidFill>
                <a:latin typeface="Calibri"/>
              </a:rPr>
              <a:t>No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840480"/>
            <a:ext cx="33649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Principals cannot see school-wide insights without manually compiling data from different sources.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246120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246120"/>
            <a:ext cx="109728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338328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0D2350"/>
                </a:solidFill>
                <a:latin typeface="Calibri"/>
              </a:rPr>
              <a:t>Untracked Transport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3840480"/>
            <a:ext cx="33649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Bus routes and driver assignments managed through informal phone calls with no record.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246120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246120"/>
            <a:ext cx="109728" cy="1783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338328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0D2350"/>
                </a:solidFill>
                <a:latin typeface="Calibri"/>
              </a:rPr>
              <a:t>Library Chaos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3840480"/>
            <a:ext cx="33649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Book issue/return records are maintained manually, causing frequent losses and no accountability.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What we set out to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5394960" cy="5120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91440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08176"/>
            <a:ext cx="51023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Primary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5102352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Digitize records: </a:t>
            </a:r>
            <a:r>
              <a:rPr sz="1350">
                <a:solidFill>
                  <a:srgbClr val="374151"/>
                </a:solidFill>
                <a:latin typeface="Calibri"/>
              </a:rPr>
              <a:t>Replace all paper-based systems with a secure digital database.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Centralize data: </a:t>
            </a:r>
            <a:r>
              <a:rPr sz="1350">
                <a:solidFill>
                  <a:srgbClr val="374151"/>
                </a:solidFill>
                <a:latin typeface="Calibri"/>
              </a:rPr>
              <a:t>One platform for students, teachers, fees, exams, library, hostel, transport.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Role-based access: </a:t>
            </a:r>
            <a:r>
              <a:rPr sz="1350">
                <a:solidFill>
                  <a:srgbClr val="374151"/>
                </a:solidFill>
                <a:latin typeface="Calibri"/>
              </a:rPr>
              <a:t>Different portals for Admin, Teacher, Parent, and Student.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Real-time updates: </a:t>
            </a:r>
            <a:r>
              <a:rPr sz="1350">
                <a:solidFill>
                  <a:srgbClr val="374151"/>
                </a:solidFill>
                <a:latin typeface="Calibri"/>
              </a:rPr>
              <a:t>Live dashboards that reflect actual data from the database instantly.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AI predictions: </a:t>
            </a:r>
            <a:r>
              <a:rPr sz="1350">
                <a:solidFill>
                  <a:srgbClr val="374151"/>
                </a:solidFill>
                <a:latin typeface="Calibri"/>
              </a:rPr>
              <a:t>Predict student performance and flag at-risk students early.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298448"/>
            <a:ext cx="5577840" cy="23774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298448"/>
            <a:ext cx="91440" cy="2377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408176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Target Beneficiaries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865376"/>
            <a:ext cx="5285232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School Administrators: </a:t>
            </a:r>
            <a:r>
              <a:rPr sz="1350">
                <a:solidFill>
                  <a:srgbClr val="374151"/>
                </a:solidFill>
                <a:latin typeface="Calibri"/>
              </a:rPr>
              <a:t>Full control over the entire institution from one screen.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Teachers: </a:t>
            </a:r>
            <a:r>
              <a:rPr sz="1350">
                <a:solidFill>
                  <a:srgbClr val="374151"/>
                </a:solidFill>
                <a:latin typeface="Calibri"/>
              </a:rPr>
              <a:t>Mark attendance, upload marks, and view class timetables.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Parents: </a:t>
            </a:r>
            <a:r>
              <a:rPr sz="1350">
                <a:solidFill>
                  <a:srgbClr val="374151"/>
                </a:solidFill>
                <a:latin typeface="Calibri"/>
              </a:rPr>
              <a:t>Monitor child's performance, fees, attendance in real-time.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Students: </a:t>
            </a:r>
            <a:r>
              <a:rPr sz="1350">
                <a:solidFill>
                  <a:srgbClr val="374151"/>
                </a:solidFill>
                <a:latin typeface="Calibri"/>
              </a:rPr>
              <a:t>View own marks, timetable, library books and notices.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858768"/>
            <a:ext cx="5577840" cy="25603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858768"/>
            <a:ext cx="91440" cy="2560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3968496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Scope of the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4425696"/>
            <a:ext cx="5285232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16 functional modules: </a:t>
            </a:r>
            <a:r>
              <a:rPr sz="1350">
                <a:solidFill>
                  <a:srgbClr val="374151"/>
                </a:solidFill>
                <a:latin typeface="Calibri"/>
              </a:rPr>
              <a:t>Covering every aspect of school management.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4 user roles: </a:t>
            </a:r>
            <a:r>
              <a:rPr sz="1350">
                <a:solidFill>
                  <a:srgbClr val="374151"/>
                </a:solidFill>
                <a:latin typeface="Calibri"/>
              </a:rPr>
              <a:t>Each role sees only what they are authorised to.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Web-based: </a:t>
            </a:r>
            <a:r>
              <a:rPr sz="1350">
                <a:solidFill>
                  <a:srgbClr val="374151"/>
                </a:solidFill>
                <a:latin typeface="Calibri"/>
              </a:rPr>
              <a:t>Works on any device with a browser — no installation needed.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Expandable: </a:t>
            </a:r>
            <a:r>
              <a:rPr sz="1350">
                <a:solidFill>
                  <a:srgbClr val="374151"/>
                </a:solidFill>
                <a:latin typeface="Calibri"/>
              </a:rPr>
              <a:t>New modules can be added without breaking existing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0A3C32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Our Solution
EduPro Elite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38912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96E6C8"/>
                </a:solidFill>
                <a:latin typeface="Calibri"/>
              </a:rPr>
              <a:t>A full-stack web application that digitizes every corner of school administration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EduPro Elite — System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1463040"/>
            <a:ext cx="3200400" cy="1417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57276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EduPro Elite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207568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DBEAFE"/>
                </a:solidFill>
                <a:latin typeface="Calibri"/>
              </a:rPr>
              <a:t>School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3200400" cy="59436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08176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Students &amp; Guardians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02536"/>
            <a:ext cx="3200400" cy="59436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12264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Teachers &amp; Staff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06624"/>
            <a:ext cx="3200400" cy="59436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16352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Fee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10712"/>
            <a:ext cx="3200400" cy="59436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2044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Attendance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3200400" cy="59436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Notices &amp; Communication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298448"/>
            <a:ext cx="3200400" cy="594360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408176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Exams &amp; Timetable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2002536"/>
            <a:ext cx="3200400" cy="594360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112264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Library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706624"/>
            <a:ext cx="3200400" cy="594360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2816352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Hostel Management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3410712"/>
            <a:ext cx="3200400" cy="594360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352044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Transport &amp; Routes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4114800"/>
            <a:ext cx="3200400" cy="594360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4224528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AI Analytics Hub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236208"/>
            <a:ext cx="11274552" cy="47548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2910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AI-Powered Predictions  |  Real-Time Analytics  |  Institutional Health Monitoring  |  Risk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50230A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System
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062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FFEDD5"/>
                </a:solidFill>
                <a:latin typeface="Calibri"/>
              </a:rPr>
              <a:t>How the three layers work together to power the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3-Layer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How the application is structured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356616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09728" cy="4892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658368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1499616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50" b="1" i="0">
                <a:solidFill>
                  <a:srgbClr val="0D2350"/>
                </a:solidFill>
                <a:latin typeface="Calibri"/>
              </a:rPr>
              <a:t>Frontend (Browser)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31136"/>
            <a:ext cx="32552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2563EB"/>
                </a:solidFill>
                <a:latin typeface="Calibri"/>
              </a:rPr>
              <a:t>React.js + Vite + Axios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51760"/>
            <a:ext cx="3255264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715768"/>
            <a:ext cx="325526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50">
                <a:solidFill>
                  <a:srgbClr val="2563EB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User opens the website in any browser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2563EB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Pages built with reusable React components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2563EB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Axios sends API requests to the backend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2563EB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JWT tokens stored in localStorage for auth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2563EB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Runs at: http://localhost:5173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298448"/>
            <a:ext cx="356616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298448"/>
            <a:ext cx="109728" cy="4892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25696" y="1481328"/>
            <a:ext cx="658368" cy="6583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14813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Layer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499616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50" b="1" i="0">
                <a:solidFill>
                  <a:srgbClr val="0D2350"/>
                </a:solidFill>
                <a:latin typeface="Calibri"/>
              </a:rPr>
              <a:t>Backend (API Server)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231136"/>
            <a:ext cx="32552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EA580C"/>
                </a:solidFill>
                <a:latin typeface="Calibri"/>
              </a:rPr>
              <a:t>Node.js + Express.js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5696" y="2651760"/>
            <a:ext cx="3255264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2715768"/>
            <a:ext cx="325526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50">
                <a:solidFill>
                  <a:srgbClr val="EA580C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Receives HTTP requests from the frontend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EA580C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Validates JWT tokens before processing data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EA580C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Runs SQL queries on the MySQL database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EA580C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Returns JSON responses to the browser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EA580C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Runs at: http://localhost:5000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1298448"/>
            <a:ext cx="356616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1856" y="1298448"/>
            <a:ext cx="109728" cy="4892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93024" y="1481328"/>
            <a:ext cx="658368" cy="6583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4" y="14813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Layer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1499616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50" b="1" i="0">
                <a:solidFill>
                  <a:srgbClr val="0D2350"/>
                </a:solidFill>
                <a:latin typeface="Calibri"/>
              </a:rPr>
              <a:t>Database (Storage)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2231136"/>
            <a:ext cx="32552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059669"/>
                </a:solidFill>
                <a:latin typeface="Calibri"/>
              </a:rPr>
              <a:t>MySQL via XAMPP / Laragon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3024" y="2651760"/>
            <a:ext cx="3255264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4" y="2715768"/>
            <a:ext cx="325526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50">
                <a:solidFill>
                  <a:srgbClr val="059669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Permanently stores all school data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059669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Tables: students, teachers, fees, attendance...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059669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Foreign keys keep related data consistent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059669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Cascade deletes clean up orphaned records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059669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Runs on: port 3306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321464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194560"/>
            <a:ext cx="7772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Login &amp; Role-Based
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3159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EDE9FE"/>
                </a:solidFill>
                <a:latin typeface="Calibri"/>
              </a:rPr>
              <a:t>Secure authentication with 4 distinct user portals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Secure Login — Role-Based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Each user only sees what they are authorised to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685800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5836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Login Portal — Live Screenshot</a:t>
            </a:r>
          </a:p>
        </p:txBody>
      </p:sp>
      <p:pic>
        <p:nvPicPr>
          <p:cNvPr id="8" name="Picture 7" descr="page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67512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583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Users select their role tab, enter credentials, and access their personalised portal securely.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298448"/>
            <a:ext cx="46634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298448"/>
            <a:ext cx="109728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7" y="1408176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7" y="1828800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Full control — all modules, settings, data,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432304"/>
            <a:ext cx="46634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2432304"/>
            <a:ext cx="109728" cy="9875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7" y="2542032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Teacher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7" y="2962656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Mark attendance, upload exam marks, view timetable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566160"/>
            <a:ext cx="46634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3566160"/>
            <a:ext cx="109728" cy="9875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7" y="3675888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Parent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7" y="4096512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View child's attendance, marks, fees, notices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700016"/>
            <a:ext cx="46634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4700016"/>
            <a:ext cx="109728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7" y="4809744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Student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7" y="5230368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Own timetable, marks, library books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5971032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D2350"/>
                </a:solidFill>
                <a:latin typeface="Calibri"/>
              </a:rPr>
              <a:t>Demo Credentials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6336792"/>
            <a:ext cx="4663440" cy="38404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39" y="6355079"/>
            <a:ext cx="8686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0D2350"/>
                </a:solidFill>
                <a:latin typeface="Calibri"/>
              </a:rPr>
              <a:t>Admin: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6355079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admin@school.com  /  demo123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6775704"/>
            <a:ext cx="4663440" cy="38404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39" y="6793991"/>
            <a:ext cx="8686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0D2350"/>
                </a:solidFill>
                <a:latin typeface="Calibri"/>
              </a:rPr>
              <a:t>Teacher: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6793991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teacher@school.com  /  demo123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79" y="7214616"/>
            <a:ext cx="4663440" cy="38404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39" y="7232903"/>
            <a:ext cx="8686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0D2350"/>
                </a:solidFill>
                <a:latin typeface="Calibri"/>
              </a:rPr>
              <a:t>Parent: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7232903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parent@school.com  /  demo123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142D73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560320"/>
            <a:ext cx="77724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95020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DBEAFE"/>
                </a:solidFill>
                <a:latin typeface="Calibri"/>
              </a:rPr>
              <a:t>Institutional overview — everything at a glance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Real-time institutional overview for school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498079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722375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Institutional Dashboard — Live Screenshot</a:t>
            </a:r>
          </a:p>
        </p:txBody>
      </p:sp>
      <p:pic>
        <p:nvPicPr>
          <p:cNvPr id="8" name="Picture 7" descr="pag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315199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722375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Shows total students, teachers, revenue, alerts, attendance chart and revenue trends — all updated live.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98448"/>
            <a:ext cx="4069080" cy="89611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298448"/>
            <a:ext cx="91440" cy="8961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371600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</a:rPr>
              <a:t>20,000+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Students Enrolled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377440"/>
            <a:ext cx="4069080" cy="896112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2377440"/>
            <a:ext cx="91440" cy="8961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450592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EA580C"/>
                </a:solidFill>
                <a:latin typeface="Calibri"/>
              </a:rPr>
              <a:t>1,500+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90779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Teachers Registered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456432"/>
            <a:ext cx="4069080" cy="896112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3456432"/>
            <a:ext cx="91440" cy="8961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529584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7C3AED"/>
                </a:solidFill>
                <a:latin typeface="Calibri"/>
              </a:rPr>
              <a:t>4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986784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System Alert Notifications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535424"/>
            <a:ext cx="4069080" cy="89611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4535424"/>
            <a:ext cx="91440" cy="8961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608576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Real-time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065776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Data from live 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5614416"/>
            <a:ext cx="4069080" cy="89611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5614416"/>
            <a:ext cx="91440" cy="8961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5687568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</a:rPr>
              <a:t>1-click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614476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Export Report as PDF/CSV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Dashboard — What You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The control centre for school administrators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5486400" cy="24231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91440" cy="2423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08176"/>
            <a:ext cx="51937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Overview Widgets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519379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Total Students: </a:t>
            </a:r>
            <a:r>
              <a:rPr sz="1350">
                <a:solidFill>
                  <a:srgbClr val="374151"/>
                </a:solidFill>
                <a:latin typeface="Calibri"/>
              </a:rPr>
              <a:t>Live count with gender breakdown and monthly growth %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Total Teachers: </a:t>
            </a:r>
            <a:r>
              <a:rPr sz="1350">
                <a:solidFill>
                  <a:srgbClr val="374151"/>
                </a:solidFill>
                <a:latin typeface="Calibri"/>
              </a:rPr>
              <a:t>Active teaching staff count with department split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Revenue Stats: </a:t>
            </a:r>
            <a:r>
              <a:rPr sz="1350">
                <a:solidFill>
                  <a:srgbClr val="374151"/>
                </a:solidFill>
                <a:latin typeface="Calibri"/>
              </a:rPr>
              <a:t>Monthly fee collection vs target with trend chart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System Alerts: </a:t>
            </a:r>
            <a:r>
              <a:rPr sz="1350">
                <a:solidFill>
                  <a:srgbClr val="374151"/>
                </a:solidFill>
                <a:latin typeface="Calibri"/>
              </a:rPr>
              <a:t>Pending fee approvals, notices awaiting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298448"/>
            <a:ext cx="5577840" cy="242316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298448"/>
            <a:ext cx="91440" cy="2423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408176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Charts &amp; Graphs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865376"/>
            <a:ext cx="528523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Attendance Chart: </a:t>
            </a:r>
            <a:r>
              <a:rPr sz="1350">
                <a:solidFill>
                  <a:srgbClr val="374151"/>
                </a:solidFill>
                <a:latin typeface="Calibri"/>
              </a:rPr>
              <a:t>Weekly bar chart showing daily attendance across all classes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Revenue Graph: </a:t>
            </a:r>
            <a:r>
              <a:rPr sz="1350">
                <a:solidFill>
                  <a:srgbClr val="374151"/>
                </a:solidFill>
                <a:latin typeface="Calibri"/>
              </a:rPr>
              <a:t>Area chart comparing collected fees vs total fees by month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Trend Lines: </a:t>
            </a:r>
            <a:r>
              <a:rPr sz="1350">
                <a:solidFill>
                  <a:srgbClr val="374151"/>
                </a:solidFill>
                <a:latin typeface="Calibri"/>
              </a:rPr>
              <a:t>Month-on-month growth tracking for all key metrics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Export Button: </a:t>
            </a:r>
            <a:r>
              <a:rPr sz="1350">
                <a:solidFill>
                  <a:srgbClr val="374151"/>
                </a:solidFill>
                <a:latin typeface="Calibri"/>
              </a:rPr>
              <a:t>Download any chart or report as a PDF briefing in one click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13632"/>
            <a:ext cx="5486400" cy="24231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13632"/>
            <a:ext cx="91440" cy="2423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023360"/>
            <a:ext cx="51937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Navigation Sidebar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80560"/>
            <a:ext cx="519379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Main Menu: </a:t>
            </a:r>
            <a:r>
              <a:rPr sz="1350">
                <a:solidFill>
                  <a:srgbClr val="374151"/>
                </a:solidFill>
                <a:latin typeface="Calibri"/>
              </a:rPr>
              <a:t>Quick access to all 16 modules from a collapsible sidebar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Role Aware: </a:t>
            </a:r>
            <a:r>
              <a:rPr sz="1350">
                <a:solidFill>
                  <a:srgbClr val="374151"/>
                </a:solidFill>
                <a:latin typeface="Calibri"/>
              </a:rPr>
              <a:t>Sidebar shows only modules the logged-in user can access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Search Bar: </a:t>
            </a:r>
            <a:r>
              <a:rPr sz="1350">
                <a:solidFill>
                  <a:srgbClr val="374151"/>
                </a:solidFill>
                <a:latin typeface="Calibri"/>
              </a:rPr>
              <a:t>Global search across students, teachers, and records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Notifications: </a:t>
            </a:r>
            <a:r>
              <a:rPr sz="1350">
                <a:solidFill>
                  <a:srgbClr val="374151"/>
                </a:solidFill>
                <a:latin typeface="Calibri"/>
              </a:rPr>
              <a:t>Bell icon shows unread alerts with count badge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913632"/>
            <a:ext cx="5577840" cy="242316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3913632"/>
            <a:ext cx="91440" cy="2423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4023360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Admin Quick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4480560"/>
            <a:ext cx="528523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Enroll Student: </a:t>
            </a:r>
            <a:r>
              <a:rPr sz="1350">
                <a:solidFill>
                  <a:srgbClr val="374151"/>
                </a:solidFill>
                <a:latin typeface="Calibri"/>
              </a:rPr>
              <a:t>Add new student with photo from the dashboard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Add Teacher: </a:t>
            </a:r>
            <a:r>
              <a:rPr sz="1350">
                <a:solidFill>
                  <a:srgbClr val="374151"/>
                </a:solidFill>
                <a:latin typeface="Calibri"/>
              </a:rPr>
              <a:t>Register new teaching staff immediately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Post Notice: </a:t>
            </a:r>
            <a:r>
              <a:rPr sz="1350">
                <a:solidFill>
                  <a:srgbClr val="374151"/>
                </a:solidFill>
                <a:latin typeface="Calibri"/>
              </a:rPr>
              <a:t>Broadcast announcements to all users or specific roles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Generate Report: </a:t>
            </a:r>
            <a:r>
              <a:rPr sz="1350">
                <a:solidFill>
                  <a:srgbClr val="374151"/>
                </a:solidFill>
                <a:latin typeface="Calibri"/>
              </a:rPr>
              <a:t>One-click PDF report for any module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142D73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Student
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062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DBEAFE"/>
                </a:solidFill>
                <a:latin typeface="Calibri"/>
              </a:rPr>
              <a:t>Enroll, track, and manage every student in the institution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Student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Complete student directory with records and quick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Students Directory — Live Screenshot</a:t>
            </a:r>
          </a:p>
        </p:txBody>
      </p:sp>
      <p:pic>
        <p:nvPicPr>
          <p:cNvPr id="8" name="Picture 7" descr="page_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Searchable directory showing enrollment stats, attendance rate, class, and student photo with action buttons.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37160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Enroll 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70078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Add with photo, class, section, guardian contact info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176272"/>
            <a:ext cx="42976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2176272"/>
            <a:ext cx="91440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24942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Search &amp;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57860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Find by name, student ID, class, or email address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054096"/>
            <a:ext cx="42976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3054096"/>
            <a:ext cx="9144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3127248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98.2%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45643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Shown as a live metric on the students listing page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3931920"/>
            <a:ext cx="42976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3931920"/>
            <a:ext cx="9144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400507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Export 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33425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Download full student list for offline records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809744"/>
            <a:ext cx="42976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18120" y="4809744"/>
            <a:ext cx="9144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488289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View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52120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Detailed student card with all academic records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5687568"/>
            <a:ext cx="42976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18120" y="5687568"/>
            <a:ext cx="91440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57607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Delete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8990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Safely removes all linked data (fees, marks, attendance)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Guardians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Parent &amp; guardian directory linked to student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Guardians Directory — Live Screenshot</a:t>
            </a:r>
          </a:p>
        </p:txBody>
      </p:sp>
      <p:pic>
        <p:nvPicPr>
          <p:cNvPr id="8" name="Picture 7" descr="page_guardi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Each guardian is linked to their child's records. Parents get a separate login to view their child's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Guardian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Parent Portal: </a:t>
            </a:r>
            <a:r>
              <a:rPr sz="1350">
                <a:solidFill>
                  <a:srgbClr val="374151"/>
                </a:solidFill>
                <a:latin typeface="Calibri"/>
              </a:rPr>
              <a:t>Guardian gets a separate login to view their child's marks, attendance, fees, and notices.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Student Link: </a:t>
            </a:r>
            <a:r>
              <a:rPr sz="1350">
                <a:solidFill>
                  <a:srgbClr val="374151"/>
                </a:solidFill>
                <a:latin typeface="Calibri"/>
              </a:rPr>
              <a:t>Each guardian record is linked to one or more student profiles.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Contact Info: </a:t>
            </a:r>
            <a:r>
              <a:rPr sz="1350">
                <a:solidFill>
                  <a:srgbClr val="374151"/>
                </a:solidFill>
                <a:latin typeface="Calibri"/>
              </a:rPr>
              <a:t>Phone, email, and address stored for emergency communication.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Fee Alerts: </a:t>
            </a:r>
            <a:r>
              <a:rPr sz="1350">
                <a:solidFill>
                  <a:srgbClr val="374151"/>
                </a:solidFill>
                <a:latin typeface="Calibri"/>
              </a:rPr>
              <a:t>Guardians receive automatic fee due reminders via the portal.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Notice Access: </a:t>
            </a:r>
            <a:r>
              <a:rPr sz="1350">
                <a:solidFill>
                  <a:srgbClr val="374151"/>
                </a:solidFill>
                <a:latin typeface="Calibri"/>
              </a:rPr>
              <a:t>Can read all announcements posted by the school.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Profile Photo: </a:t>
            </a:r>
            <a:r>
              <a:rPr sz="1350">
                <a:solidFill>
                  <a:srgbClr val="374151"/>
                </a:solidFill>
                <a:latin typeface="Calibri"/>
              </a:rPr>
              <a:t>Guardian photo stored alongside contact details.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50230A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Teacher &amp; Staff
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062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FFEDD5"/>
                </a:solidFill>
                <a:latin typeface="Calibri"/>
              </a:rPr>
              <a:t>Manage all teaching and non-teaching staff in one place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Teacher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Complete staff directory with assignments and 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Teachers Directory — Live Screenshot</a:t>
            </a:r>
          </a:p>
        </p:txBody>
      </p:sp>
      <p:pic>
        <p:nvPicPr>
          <p:cNvPr id="8" name="Picture 7" descr="page_teach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Full teacher roster with subject, qualification, experience and contact. Click any teacher to view full profile.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Teacher Module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Add Teacher: </a:t>
            </a:r>
            <a:r>
              <a:rPr sz="1350">
                <a:solidFill>
                  <a:srgbClr val="374151"/>
                </a:solidFill>
                <a:latin typeface="Calibri"/>
              </a:rPr>
              <a:t>Register with photo, subject, qualification, experience, salary.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Assign Classes: </a:t>
            </a:r>
            <a:r>
              <a:rPr sz="1350">
                <a:solidFill>
                  <a:srgbClr val="374151"/>
                </a:solidFill>
                <a:latin typeface="Calibri"/>
              </a:rPr>
              <a:t>Link each teacher to specific classes and subjects.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Timetable: </a:t>
            </a:r>
            <a:r>
              <a:rPr sz="1350">
                <a:solidFill>
                  <a:srgbClr val="374151"/>
                </a:solidFill>
                <a:latin typeface="Calibri"/>
              </a:rPr>
              <a:t>Automatically checks and prevents double-booking of teachers.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Attendance Record: </a:t>
            </a:r>
            <a:r>
              <a:rPr sz="1350">
                <a:solidFill>
                  <a:srgbClr val="374151"/>
                </a:solidFill>
                <a:latin typeface="Calibri"/>
              </a:rPr>
              <a:t>Track teacher attendance just like students.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Salary Info: </a:t>
            </a:r>
            <a:r>
              <a:rPr sz="1350">
                <a:solidFill>
                  <a:srgbClr val="374151"/>
                </a:solidFill>
                <a:latin typeface="Calibri"/>
              </a:rPr>
              <a:t>Store pay grades, allowances, and payment history.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Teacher Login: </a:t>
            </a:r>
            <a:r>
              <a:rPr sz="1350">
                <a:solidFill>
                  <a:srgbClr val="374151"/>
                </a:solidFill>
                <a:latin typeface="Calibri"/>
              </a:rPr>
              <a:t>Each teacher logs in to mark attendance and upload marks.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Employee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Non-teaching staff records and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Employee Directory — Live Screenshot</a:t>
            </a:r>
          </a:p>
        </p:txBody>
      </p:sp>
      <p:pic>
        <p:nvPicPr>
          <p:cNvPr id="8" name="Picture 7" descr="page_employ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Manage administrative, support, and non-teaching staff separately from teacher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Employee Module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Staff Directory: </a:t>
            </a:r>
            <a:r>
              <a:rPr sz="1350">
                <a:solidFill>
                  <a:srgbClr val="374151"/>
                </a:solidFill>
                <a:latin typeface="Calibri"/>
              </a:rPr>
              <a:t>Separate listing for non-teaching staff like clerks, peons, drivers.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Department: </a:t>
            </a:r>
            <a:r>
              <a:rPr sz="1350">
                <a:solidFill>
                  <a:srgbClr val="374151"/>
                </a:solidFill>
                <a:latin typeface="Calibri"/>
              </a:rPr>
              <a:t>Assign employees to Administration, Housekeeping, Security etc.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Designation: </a:t>
            </a:r>
            <a:r>
              <a:rPr sz="1350">
                <a:solidFill>
                  <a:srgbClr val="374151"/>
                </a:solidFill>
                <a:latin typeface="Calibri"/>
              </a:rPr>
              <a:t>Track roles — Accountant, Lab Assistant, Office Manager.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Contact Details: </a:t>
            </a:r>
            <a:r>
              <a:rPr sz="1350">
                <a:solidFill>
                  <a:srgbClr val="374151"/>
                </a:solidFill>
                <a:latin typeface="Calibri"/>
              </a:rPr>
              <a:t>Phone, email, emergency contact, and address stored.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Join Date: </a:t>
            </a:r>
            <a:r>
              <a:rPr sz="1350">
                <a:solidFill>
                  <a:srgbClr val="374151"/>
                </a:solidFill>
                <a:latin typeface="Calibri"/>
              </a:rPr>
              <a:t>Record employment start date and contract type.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Salary Records: </a:t>
            </a:r>
            <a:r>
              <a:rPr sz="1350">
                <a:solidFill>
                  <a:srgbClr val="374151"/>
                </a:solidFill>
                <a:latin typeface="Calibri"/>
              </a:rPr>
              <a:t>Maintain pay structure for non-teaching staff separately.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053C28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Fee
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96E6C8"/>
                </a:solidFill>
                <a:latin typeface="Calibri"/>
              </a:rPr>
              <a:t>Digital fee collection, receipt generation, and financial reporting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Fee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Digital fee collection with instant receipts and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Fee Management — Live Screenshot</a:t>
            </a:r>
          </a:p>
        </p:txBody>
      </p:sp>
      <p:pic>
        <p:nvPicPr>
          <p:cNvPr id="8" name="Picture 7" descr="page_f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Track all fee transactions with Paid/Unpaid status, payment date, student details and receipt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Fee Module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Record Payment: </a:t>
            </a:r>
            <a:r>
              <a:rPr sz="1350">
                <a:solidFill>
                  <a:srgbClr val="374151"/>
                </a:solidFill>
                <a:latin typeface="Calibri"/>
              </a:rPr>
              <a:t>Log fee payments with amount, date, and payment method.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Paid / Unpaid: </a:t>
            </a:r>
            <a:r>
              <a:rPr sz="1350">
                <a:solidFill>
                  <a:srgbClr val="374151"/>
                </a:solidFill>
                <a:latin typeface="Calibri"/>
              </a:rPr>
              <a:t>Filter students by payment status instantly.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Instant Receipt: </a:t>
            </a:r>
            <a:r>
              <a:rPr sz="1350">
                <a:solidFill>
                  <a:srgbClr val="374151"/>
                </a:solidFill>
                <a:latin typeface="Calibri"/>
              </a:rPr>
              <a:t>Generate a printable receipt for every payment.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Export CSV: </a:t>
            </a:r>
            <a:r>
              <a:rPr sz="1350">
                <a:solidFill>
                  <a:srgbClr val="374151"/>
                </a:solidFill>
                <a:latin typeface="Calibri"/>
              </a:rPr>
              <a:t>Download full ledger for accounting and audit.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Due Reminders: </a:t>
            </a:r>
            <a:r>
              <a:rPr sz="1350">
                <a:solidFill>
                  <a:srgbClr val="374151"/>
                </a:solidFill>
                <a:latin typeface="Calibri"/>
              </a:rPr>
              <a:t>Flag overdue payments with automated alerts.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Revenue Chart: </a:t>
            </a:r>
            <a:r>
              <a:rPr sz="1350">
                <a:solidFill>
                  <a:srgbClr val="374151"/>
                </a:solidFill>
                <a:latin typeface="Calibri"/>
              </a:rPr>
              <a:t>Visualise monthly collections vs targets on dashboard.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142D73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Attendance
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DBEAFE"/>
                </a:solidFill>
                <a:latin typeface="Calibri"/>
              </a:rPr>
              <a:t>Daily attendance for students and staff with real-time reports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Attendance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Track who is present, absent, or late — every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Attendance Module — Live Screenshot</a:t>
            </a:r>
          </a:p>
        </p:txBody>
      </p:sp>
      <p:pic>
        <p:nvPicPr>
          <p:cNvPr id="8" name="Picture 7" descr="page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Teachers mark Present / Absent / Late for each student. Data is stored and shown on the dashboard chart.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Attendance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Daily Marking: </a:t>
            </a:r>
            <a:r>
              <a:rPr sz="1350">
                <a:solidFill>
                  <a:srgbClr val="374151"/>
                </a:solidFill>
                <a:latin typeface="Calibri"/>
              </a:rPr>
              <a:t>Teachers mark attendance class-by-class each day.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Status Options: </a:t>
            </a:r>
            <a:r>
              <a:rPr sz="1350">
                <a:solidFill>
                  <a:srgbClr val="374151"/>
                </a:solidFill>
                <a:latin typeface="Calibri"/>
              </a:rPr>
              <a:t>Present, Absent, Late — each with different visual indicator.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Date Filter: </a:t>
            </a:r>
            <a:r>
              <a:rPr sz="1350">
                <a:solidFill>
                  <a:srgbClr val="374151"/>
                </a:solidFill>
                <a:latin typeface="Calibri"/>
              </a:rPr>
              <a:t>Browse historical attendance for any past date.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Attendance %: </a:t>
            </a:r>
            <a:r>
              <a:rPr sz="1350">
                <a:solidFill>
                  <a:srgbClr val="374151"/>
                </a:solidFill>
                <a:latin typeface="Calibri"/>
              </a:rPr>
              <a:t>Percentage calculated automatically per student.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Reports: </a:t>
            </a:r>
            <a:r>
              <a:rPr sz="1350">
                <a:solidFill>
                  <a:srgbClr val="374151"/>
                </a:solidFill>
                <a:latin typeface="Calibri"/>
              </a:rPr>
              <a:t>Generate attendance summary by class, date range, or student.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Parent Visibility: </a:t>
            </a:r>
            <a:r>
              <a:rPr sz="1350">
                <a:solidFill>
                  <a:srgbClr val="374151"/>
                </a:solidFill>
                <a:latin typeface="Calibri"/>
              </a:rPr>
              <a:t>Parents see their child's attendance in real-time.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321464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Exams &amp;
Timetable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EDE9FE"/>
                </a:solidFill>
                <a:latin typeface="Calibri"/>
              </a:rPr>
              <a:t>Schedule exams and build weekly class timetables without conflicts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Exams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Schedule and track all school examinations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Exams Module — Live Screenshot</a:t>
            </a:r>
          </a:p>
        </p:txBody>
      </p:sp>
      <p:pic>
        <p:nvPicPr>
          <p:cNvPr id="8" name="Picture 7" descr="page_ex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Create exam schedules mapped to specific classes. Track exam dates, subjects, and mark entry by teachers.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Exams Module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Create Exam: </a:t>
            </a:r>
            <a:r>
              <a:rPr sz="1350">
                <a:solidFill>
                  <a:srgbClr val="374151"/>
                </a:solidFill>
                <a:latin typeface="Calibri"/>
              </a:rPr>
              <a:t>Schedule exam blocks with name, date, class, and subject.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Subject Mapping: </a:t>
            </a:r>
            <a:r>
              <a:rPr sz="1350">
                <a:solidFill>
                  <a:srgbClr val="374151"/>
                </a:solidFill>
                <a:latin typeface="Calibri"/>
              </a:rPr>
              <a:t>Each exam linked to specific subject and teacher.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Mark Entry: </a:t>
            </a:r>
            <a:r>
              <a:rPr sz="1350">
                <a:solidFill>
                  <a:srgbClr val="374151"/>
                </a:solidFill>
                <a:latin typeface="Calibri"/>
              </a:rPr>
              <a:t>Teachers upload marks directly against student records.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Results View: </a:t>
            </a:r>
            <a:r>
              <a:rPr sz="1350">
                <a:solidFill>
                  <a:srgbClr val="374151"/>
                </a:solidFill>
                <a:latin typeface="Calibri"/>
              </a:rPr>
              <a:t>Students see their marks on their portal after entry.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Class Filter: </a:t>
            </a:r>
            <a:r>
              <a:rPr sz="1350">
                <a:solidFill>
                  <a:srgbClr val="374151"/>
                </a:solidFill>
                <a:latin typeface="Calibri"/>
              </a:rPr>
              <a:t>View exams for a specific class or across all classes.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History: </a:t>
            </a:r>
            <a:r>
              <a:rPr sz="1350">
                <a:solidFill>
                  <a:srgbClr val="374151"/>
                </a:solidFill>
                <a:latin typeface="Calibri"/>
              </a:rPr>
              <a:t>Browse past exam results for any academic period.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Timetable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Build weekly class schedules with automatic conflict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Timetable Module — Live Screenshot</a:t>
            </a:r>
          </a:p>
        </p:txBody>
      </p:sp>
      <p:pic>
        <p:nvPicPr>
          <p:cNvPr id="8" name="Picture 7" descr="page_time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Visual weekly grid. Assign teachers to periods. The system prevents double-booking the same teacher.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Timetable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Visual Grid: </a:t>
            </a:r>
            <a:r>
              <a:rPr sz="1350">
                <a:solidFill>
                  <a:srgbClr val="374151"/>
                </a:solidFill>
                <a:latin typeface="Calibri"/>
              </a:rPr>
              <a:t>7-day weekly timetable shown as a colour-coded grid.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Teacher Assignment: </a:t>
            </a:r>
            <a:r>
              <a:rPr sz="1350">
                <a:solidFill>
                  <a:srgbClr val="374151"/>
                </a:solidFill>
                <a:latin typeface="Calibri"/>
              </a:rPr>
              <a:t>Each period is assigned a teacher and subject.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Conflict Detection: </a:t>
            </a:r>
            <a:r>
              <a:rPr sz="1350">
                <a:solidFill>
                  <a:srgbClr val="374151"/>
                </a:solidFill>
                <a:latin typeface="Calibri"/>
              </a:rPr>
              <a:t>System alerts when a teacher is double-booked.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Class-wise View: </a:t>
            </a:r>
            <a:r>
              <a:rPr sz="1350">
                <a:solidFill>
                  <a:srgbClr val="374151"/>
                </a:solidFill>
                <a:latin typeface="Calibri"/>
              </a:rPr>
              <a:t>Switch between classes to see their timetable.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Period Labels: </a:t>
            </a:r>
            <a:r>
              <a:rPr sz="1350">
                <a:solidFill>
                  <a:srgbClr val="374151"/>
                </a:solidFill>
                <a:latin typeface="Calibri"/>
              </a:rPr>
              <a:t>Customise period timings (8:00 AM – 9:00 AM etc.).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Student Visible: </a:t>
            </a:r>
            <a:r>
              <a:rPr sz="1350">
                <a:solidFill>
                  <a:srgbClr val="374151"/>
                </a:solidFill>
                <a:latin typeface="Calibri"/>
              </a:rPr>
              <a:t>Students see their own timetable on their portal.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50230A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Library &amp;
Hostel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FFEDD5"/>
                </a:solidFill>
                <a:latin typeface="Calibri"/>
              </a:rPr>
              <a:t>Book tracking and student accommodation management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Library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Digital book catalogue with issue and return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Library Module — Live Screenshot</a:t>
            </a:r>
          </a:p>
        </p:txBody>
      </p:sp>
      <p:pic>
        <p:nvPicPr>
          <p:cNvPr id="8" name="Picture 7" descr="page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Books catalogued with author, category, availability status. Issue and return recorded against student 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Library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Book Catalogue: </a:t>
            </a:r>
            <a:r>
              <a:rPr sz="1350">
                <a:solidFill>
                  <a:srgbClr val="374151"/>
                </a:solidFill>
                <a:latin typeface="Calibri"/>
              </a:rPr>
              <a:t>All books listed with title, author, category, quantity.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Issue Book: </a:t>
            </a:r>
            <a:r>
              <a:rPr sz="1350">
                <a:solidFill>
                  <a:srgbClr val="374151"/>
                </a:solidFill>
                <a:latin typeface="Calibri"/>
              </a:rPr>
              <a:t>Assign a book to a student with issue date recorded.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Return Book: </a:t>
            </a:r>
            <a:r>
              <a:rPr sz="1350">
                <a:solidFill>
                  <a:srgbClr val="374151"/>
                </a:solidFill>
                <a:latin typeface="Calibri"/>
              </a:rPr>
              <a:t>Mark book as returned; availability updates automatically.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Availability: </a:t>
            </a:r>
            <a:r>
              <a:rPr sz="1350">
                <a:solidFill>
                  <a:srgbClr val="374151"/>
                </a:solidFill>
                <a:latin typeface="Calibri"/>
              </a:rPr>
              <a:t>Available vs Issued count shown for each title.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Student View: </a:t>
            </a:r>
            <a:r>
              <a:rPr sz="1350">
                <a:solidFill>
                  <a:srgbClr val="374151"/>
                </a:solidFill>
                <a:latin typeface="Calibri"/>
              </a:rPr>
              <a:t>Students can see which books they have issued.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Search Books: </a:t>
            </a:r>
            <a:r>
              <a:rPr sz="1350">
                <a:solidFill>
                  <a:srgbClr val="374151"/>
                </a:solidFill>
                <a:latin typeface="Calibri"/>
              </a:rPr>
              <a:t>Search by title, author, or category instantly.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Hostel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Room allocation and residency tracking for boarding students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Hostel Module — Live Screenshot</a:t>
            </a:r>
          </a:p>
        </p:txBody>
      </p:sp>
      <p:pic>
        <p:nvPicPr>
          <p:cNvPr id="8" name="Picture 7" descr="page_hos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Each hostel room tracked with capacity, occupancy, and assigned students. Vacancy shown in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Hostel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Room Listing: </a:t>
            </a:r>
            <a:r>
              <a:rPr sz="1350">
                <a:solidFill>
                  <a:srgbClr val="374151"/>
                </a:solidFill>
                <a:latin typeface="Calibri"/>
              </a:rPr>
              <a:t>All hostel rooms shown with block, room number, capacity.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Allocate Room: </a:t>
            </a:r>
            <a:r>
              <a:rPr sz="1350">
                <a:solidFill>
                  <a:srgbClr val="374151"/>
                </a:solidFill>
                <a:latin typeface="Calibri"/>
              </a:rPr>
              <a:t>Assign a student to a specific room with start date.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Vacancy Tracker: </a:t>
            </a:r>
            <a:r>
              <a:rPr sz="1350">
                <a:solidFill>
                  <a:srgbClr val="374151"/>
                </a:solidFill>
                <a:latin typeface="Calibri"/>
              </a:rPr>
              <a:t>See available vs occupied rooms at a glance.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Student Records: </a:t>
            </a:r>
            <a:r>
              <a:rPr sz="1350">
                <a:solidFill>
                  <a:srgbClr val="374151"/>
                </a:solidFill>
                <a:latin typeface="Calibri"/>
              </a:rPr>
              <a:t>View which students are assigned to each room.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Vacate Room: </a:t>
            </a:r>
            <a:r>
              <a:rPr sz="1350">
                <a:solidFill>
                  <a:srgbClr val="374151"/>
                </a:solidFill>
                <a:latin typeface="Calibri"/>
              </a:rPr>
              <a:t>Mark a student as moved out to free the room.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Block Filter: </a:t>
            </a:r>
            <a:r>
              <a:rPr sz="1350">
                <a:solidFill>
                  <a:srgbClr val="374151"/>
                </a:solidFill>
                <a:latin typeface="Calibri"/>
              </a:rPr>
              <a:t>Filter rooms by hostel block or floor number.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053C28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Transport
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96E6C8"/>
                </a:solidFill>
                <a:latin typeface="Calibri"/>
              </a:rPr>
              <a:t>Manage bus routes, drivers, and student transport assignments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Transport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Digital management of school bus routes and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Transport Module — Live Screenshot</a:t>
            </a:r>
          </a:p>
        </p:txBody>
      </p:sp>
      <p:pic>
        <p:nvPicPr>
          <p:cNvPr id="8" name="Picture 7" descr="page_trans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Bus routes listed with assigned driver, stop count, and student assignments. Driver directory included.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Transport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Route Management: </a:t>
            </a:r>
            <a:r>
              <a:rPr sz="1350">
                <a:solidFill>
                  <a:srgbClr val="374151"/>
                </a:solidFill>
                <a:latin typeface="Calibri"/>
              </a:rPr>
              <a:t>Define named bus routes with start point, end point, and stops.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Driver Directory: </a:t>
            </a:r>
            <a:r>
              <a:rPr sz="1350">
                <a:solidFill>
                  <a:srgbClr val="374151"/>
                </a:solidFill>
                <a:latin typeface="Calibri"/>
              </a:rPr>
              <a:t>Register drivers with licence, vehicle number, phone.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Student Assignment: </a:t>
            </a:r>
            <a:r>
              <a:rPr sz="1350">
                <a:solidFill>
                  <a:srgbClr val="374151"/>
                </a:solidFill>
                <a:latin typeface="Calibri"/>
              </a:rPr>
              <a:t>Assign each boarding student to a specific bus route.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Route Report: </a:t>
            </a:r>
            <a:r>
              <a:rPr sz="1350">
                <a:solidFill>
                  <a:srgbClr val="374151"/>
                </a:solidFill>
                <a:latin typeface="Calibri"/>
              </a:rPr>
              <a:t>See how many students are on each route.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Driver Contact: </a:t>
            </a:r>
            <a:r>
              <a:rPr sz="1350">
                <a:solidFill>
                  <a:srgbClr val="374151"/>
                </a:solidFill>
                <a:latin typeface="Calibri"/>
              </a:rPr>
              <a:t>One-click access to driver phone number.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Vehicle Tracking: </a:t>
            </a:r>
            <a:r>
              <a:rPr sz="1350">
                <a:solidFill>
                  <a:srgbClr val="374151"/>
                </a:solidFill>
                <a:latin typeface="Calibri"/>
              </a:rPr>
              <a:t>Record vehicle number and type for each route.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053C28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AI Analytics
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96E6C8"/>
                </a:solidFill>
                <a:latin typeface="Calibri"/>
              </a:rPr>
              <a:t>Machine learning predictions for student performance and institutional health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AI Analytics — Performance Intelligence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Predictive analytics and institutional health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AI Performance Hub — Live Screenshot</a:t>
            </a:r>
          </a:p>
        </p:txBody>
      </p:sp>
      <p:pic>
        <p:nvPicPr>
          <p:cNvPr id="8" name="Picture 7" descr="ai_hub_17822924084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Shows Institutional Health (97%), Predictive Accuracy (99.2%), Intervention ROI (82.4%) with live forecast charts.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98448"/>
            <a:ext cx="4069080" cy="89611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298448"/>
            <a:ext cx="91440" cy="8961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371600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97.0%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Institutional 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377440"/>
            <a:ext cx="4069080" cy="89611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2377440"/>
            <a:ext cx="91440" cy="8961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450592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99.2%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90779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AI Predictive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456432"/>
            <a:ext cx="4069080" cy="89611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3456432"/>
            <a:ext cx="91440" cy="8961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529584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82.4%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986784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Intervention ROI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535424"/>
            <a:ext cx="4069080" cy="896112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4535424"/>
            <a:ext cx="91440" cy="8961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608576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EA580C"/>
                </a:solidFill>
                <a:latin typeface="Calibri"/>
              </a:rPr>
              <a:t>Risk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065776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Students flagged for early help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5614416"/>
            <a:ext cx="4069080" cy="89611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5614416"/>
            <a:ext cx="91440" cy="8961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5687568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</a:rPr>
              <a:t>Forecasting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614476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Performance trends for next term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AI Module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Simple explanation of the AI analytics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5394960" cy="24231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91440" cy="2423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08176"/>
            <a:ext cx="51023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Student Performance Predictor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510235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Input data: </a:t>
            </a:r>
            <a:r>
              <a:rPr sz="1350">
                <a:solidFill>
                  <a:srgbClr val="374151"/>
                </a:solidFill>
                <a:latin typeface="Calibri"/>
              </a:rPr>
              <a:t>Past exam marks, attendance rate, assignment completion.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Output: </a:t>
            </a:r>
            <a:r>
              <a:rPr sz="1350">
                <a:solidFill>
                  <a:srgbClr val="374151"/>
                </a:solidFill>
                <a:latin typeface="Calibri"/>
              </a:rPr>
              <a:t>Risk score (Low / Medium / High) for each student.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Action: </a:t>
            </a:r>
            <a:r>
              <a:rPr sz="1350">
                <a:solidFill>
                  <a:srgbClr val="374151"/>
                </a:solidFill>
                <a:latin typeface="Calibri"/>
              </a:rPr>
              <a:t>Teachers are alerted to students showing high-risk patterns.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Accuracy: </a:t>
            </a:r>
            <a:r>
              <a:rPr sz="1350">
                <a:solidFill>
                  <a:srgbClr val="374151"/>
                </a:solidFill>
                <a:latin typeface="Calibri"/>
              </a:rPr>
              <a:t>99.2% predictive accuracy on historical school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298448"/>
            <a:ext cx="5577840" cy="24231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298448"/>
            <a:ext cx="91440" cy="2423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408176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Institutional Health 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865376"/>
            <a:ext cx="528523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Tracks: </a:t>
            </a:r>
            <a:r>
              <a:rPr sz="1350">
                <a:solidFill>
                  <a:srgbClr val="374151"/>
                </a:solidFill>
                <a:latin typeface="Calibri"/>
              </a:rPr>
              <a:t>Overall school performance as a composite health score.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Metrics: </a:t>
            </a:r>
            <a:r>
              <a:rPr sz="1350">
                <a:solidFill>
                  <a:srgbClr val="374151"/>
                </a:solidFill>
                <a:latin typeface="Calibri"/>
              </a:rPr>
              <a:t>Attendance rate, fee collection %, exam pass rate combined.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Live: </a:t>
            </a:r>
            <a:r>
              <a:rPr sz="1350">
                <a:solidFill>
                  <a:srgbClr val="374151"/>
                </a:solidFill>
                <a:latin typeface="Calibri"/>
              </a:rPr>
              <a:t>Score updates automatically as new data is entered.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Target: </a:t>
            </a:r>
            <a:r>
              <a:rPr sz="1350">
                <a:solidFill>
                  <a:srgbClr val="374151"/>
                </a:solidFill>
                <a:latin typeface="Calibri"/>
              </a:rPr>
              <a:t>Score of 97% means 97% of institutional KPIs are met.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13632"/>
            <a:ext cx="5394960" cy="242316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13632"/>
            <a:ext cx="91440" cy="2423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023360"/>
            <a:ext cx="51023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Intervention ROI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80560"/>
            <a:ext cx="510235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What it measures: </a:t>
            </a:r>
            <a:r>
              <a:rPr sz="1350">
                <a:solidFill>
                  <a:srgbClr val="374151"/>
                </a:solidFill>
                <a:latin typeface="Calibri"/>
              </a:rPr>
              <a:t>Return on investment of teacher interventions.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How: </a:t>
            </a:r>
            <a:r>
              <a:rPr sz="1350">
                <a:solidFill>
                  <a:srgbClr val="374151"/>
                </a:solidFill>
                <a:latin typeface="Calibri"/>
              </a:rPr>
              <a:t>Compares student performance before and after extra help.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Result: </a:t>
            </a:r>
            <a:r>
              <a:rPr sz="1350">
                <a:solidFill>
                  <a:srgbClr val="374151"/>
                </a:solidFill>
                <a:latin typeface="Calibri"/>
              </a:rPr>
              <a:t>82.4% of interventions show measurable improvement.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Benefit: </a:t>
            </a:r>
            <a:r>
              <a:rPr sz="1350">
                <a:solidFill>
                  <a:srgbClr val="374151"/>
                </a:solidFill>
                <a:latin typeface="Calibri"/>
              </a:rPr>
              <a:t>Helps school allocate tutoring resources effectively.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913632"/>
            <a:ext cx="5577840" cy="242316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3913632"/>
            <a:ext cx="91440" cy="2423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4023360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Audit Log &amp; Model Retraining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4480560"/>
            <a:ext cx="528523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Audit log: </a:t>
            </a:r>
            <a:r>
              <a:rPr sz="1350">
                <a:solidFill>
                  <a:srgbClr val="374151"/>
                </a:solidFill>
                <a:latin typeface="Calibri"/>
              </a:rPr>
              <a:t>Every AI prediction is logged with timestamp and result.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Retraining: </a:t>
            </a:r>
            <a:r>
              <a:rPr sz="1350">
                <a:solidFill>
                  <a:srgbClr val="374151"/>
                </a:solidFill>
                <a:latin typeface="Calibri"/>
              </a:rPr>
              <a:t>Model can be retrained with new data from the admin panel.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Transparency: </a:t>
            </a:r>
            <a:r>
              <a:rPr sz="1350">
                <a:solidFill>
                  <a:srgbClr val="374151"/>
                </a:solidFill>
                <a:latin typeface="Calibri"/>
              </a:rPr>
              <a:t>All predictions visible so teachers can verify and act.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Accuracy: </a:t>
            </a:r>
            <a:r>
              <a:rPr sz="1350">
                <a:solidFill>
                  <a:srgbClr val="374151"/>
                </a:solidFill>
                <a:latin typeface="Calibri"/>
              </a:rPr>
              <a:t>Model accuracy updated live after each training run.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321464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Reports &amp;
Notices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EDE9FE"/>
                </a:solidFill>
                <a:latin typeface="Calibri"/>
              </a:rPr>
              <a:t>Communicate with all stakeholders and generate institutional reports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Notices &amp; Announcements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Broadcast communications to all users or specific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Notices Module — Live Screenshot</a:t>
            </a:r>
          </a:p>
        </p:txBody>
      </p:sp>
      <p:pic>
        <p:nvPicPr>
          <p:cNvPr id="8" name="Picture 7" descr="page_not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Admin posts notices visible to all users or targeted to specific roles (teachers, parents, students).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Notices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Post Notice: </a:t>
            </a:r>
            <a:r>
              <a:rPr sz="1350">
                <a:solidFill>
                  <a:srgbClr val="374151"/>
                </a:solidFill>
                <a:latin typeface="Calibri"/>
              </a:rPr>
              <a:t>Admin writes a notice with title, body, and target audience.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Audience: </a:t>
            </a:r>
            <a:r>
              <a:rPr sz="1350">
                <a:solidFill>
                  <a:srgbClr val="374151"/>
                </a:solidFill>
                <a:latin typeface="Calibri"/>
              </a:rPr>
              <a:t>Target All, Teachers Only, Parents Only, or Students Only.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Urgency Flag: </a:t>
            </a:r>
            <a:r>
              <a:rPr sz="1350">
                <a:solidFill>
                  <a:srgbClr val="374151"/>
                </a:solidFill>
                <a:latin typeface="Calibri"/>
              </a:rPr>
              <a:t>Mark urgent notices with a priority label.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Date Stamp: </a:t>
            </a:r>
            <a:r>
              <a:rPr sz="1350">
                <a:solidFill>
                  <a:srgbClr val="374151"/>
                </a:solidFill>
                <a:latin typeface="Calibri"/>
              </a:rPr>
              <a:t>All notices show posted date and time.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Read Status: </a:t>
            </a:r>
            <a:r>
              <a:rPr sz="1350">
                <a:solidFill>
                  <a:srgbClr val="374151"/>
                </a:solidFill>
                <a:latin typeface="Calibri"/>
              </a:rPr>
              <a:t>Users can see how many have read each notice.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Delete/Edit: </a:t>
            </a:r>
            <a:r>
              <a:rPr sz="1350">
                <a:solidFill>
                  <a:srgbClr val="374151"/>
                </a:solidFill>
                <a:latin typeface="Calibri"/>
              </a:rPr>
              <a:t>Admin can update or remove notices at any time.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Reports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Data-driven reports for every school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Reports Module — Live Screenshot</a:t>
            </a:r>
          </a:p>
        </p:txBody>
      </p:sp>
      <p:pic>
        <p:nvPicPr>
          <p:cNvPr id="8" name="Picture 7" descr="page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Generate attendance summaries, fee reports, exam results, and AI predictions — all exportable as PDF or CSV.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Report Types 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Attendance Report: </a:t>
            </a:r>
            <a:r>
              <a:rPr sz="1350">
                <a:solidFill>
                  <a:srgbClr val="374151"/>
                </a:solidFill>
                <a:latin typeface="Calibri"/>
              </a:rPr>
              <a:t>Daily/monthly attendance % by class or student.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Fee Collection: </a:t>
            </a:r>
            <a:r>
              <a:rPr sz="1350">
                <a:solidFill>
                  <a:srgbClr val="374151"/>
                </a:solidFill>
                <a:latin typeface="Calibri"/>
              </a:rPr>
              <a:t>Paid vs Unpaid summary with transaction log.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Exam Results: </a:t>
            </a:r>
            <a:r>
              <a:rPr sz="1350">
                <a:solidFill>
                  <a:srgbClr val="374151"/>
                </a:solidFill>
                <a:latin typeface="Calibri"/>
              </a:rPr>
              <a:t>Class-wise marks summary with pass/fail breakdown.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AI Risk Report: </a:t>
            </a:r>
            <a:r>
              <a:rPr sz="1350">
                <a:solidFill>
                  <a:srgbClr val="374151"/>
                </a:solidFill>
                <a:latin typeface="Calibri"/>
              </a:rPr>
              <a:t>Students flagged as at-risk with recommended actions.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Staff Report: </a:t>
            </a:r>
            <a:r>
              <a:rPr sz="1350">
                <a:solidFill>
                  <a:srgbClr val="374151"/>
                </a:solidFill>
                <a:latin typeface="Calibri"/>
              </a:rPr>
              <a:t>Teacher and employee summary with designation.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Custom Filters: </a:t>
            </a:r>
            <a:r>
              <a:rPr sz="1350">
                <a:solidFill>
                  <a:srgbClr val="374151"/>
                </a:solidFill>
                <a:latin typeface="Calibri"/>
              </a:rPr>
              <a:t>Filter any report by date, class, or student name.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142D73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Technology
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DBEAFE"/>
                </a:solidFill>
                <a:latin typeface="Calibri"/>
              </a:rPr>
              <a:t>All tools are free, open-source, and industry-standard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Tools and frameworks used to build EduPro Elite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09728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08176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React.js + 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146304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37944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Frontend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94560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Modern JavaScript library for building fast, interactive UIs. Vite gives near-instant hot-reload for development.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298448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298448"/>
            <a:ext cx="109728" cy="1783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408176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Node.js + Express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136" y="1828800"/>
            <a:ext cx="1463040" cy="2743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837944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Backend API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194560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JavaScript runtime that handles all server-side logic, routes, and database queries. Lightweight and fast.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1298448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1298448"/>
            <a:ext cx="109728" cy="1783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408176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MySQL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75904" y="1828800"/>
            <a:ext cx="146304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1837944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194560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Relational database that stores all school data in structured tables with foreign key relationships.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64408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264408"/>
            <a:ext cx="109728" cy="1783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74136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JWT (Tokens)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794760"/>
            <a:ext cx="146304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803904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Authentication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160520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JSON Web Tokens verify user identity on every request. No passwords are sent repeatedly over the network.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3264408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3264408"/>
            <a:ext cx="109728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7136" y="3374136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Recharts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17136" y="3794760"/>
            <a:ext cx="146304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7136" y="3803904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Data Visualisation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4160520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React charting library used for bar charts, area charts, and trend lines on the dashboard and AI hub.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74736" y="3264408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74736" y="3264408"/>
            <a:ext cx="109728" cy="1783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3374136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Axios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75904" y="3794760"/>
            <a:ext cx="1463040" cy="2743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75904" y="3803904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API Communication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4160520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HTTP client used by the frontend to send requests to the backend. Handles JWT injection automatically.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053C28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Results &amp;
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96E6C8"/>
                </a:solidFill>
                <a:latin typeface="Calibri"/>
              </a:rPr>
              <a:t>What was successfully built, tested and demonstrated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Project Results — What We Achieved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11274552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0972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1463040" cy="13258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08176"/>
            <a:ext cx="1463040" cy="1106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389888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Functional Modules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2024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Students, Teachers, Fees, Attendance, Exams, Timetable, Library, Hostel, Transport, Notices, Reports, AI, Roles, Security, Employees, Guardians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52928"/>
            <a:ext cx="11274552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109728" cy="1325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852928"/>
            <a:ext cx="1463040" cy="13258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962656"/>
            <a:ext cx="1463040" cy="1106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944368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User Role Portals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47472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Admin, Teacher, Parent, Student — each with a personalised, permission-based interface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07408"/>
            <a:ext cx="11274552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07408"/>
            <a:ext cx="109728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4407408"/>
            <a:ext cx="1463040" cy="13258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517136"/>
            <a:ext cx="1463040" cy="1106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99.2%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498848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AI Predictive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02920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Machine learning module achieves 99.2% accuracy in predicting student performance outcomes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961888"/>
            <a:ext cx="11274552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961888"/>
            <a:ext cx="109728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5961888"/>
            <a:ext cx="1463040" cy="13258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071616"/>
            <a:ext cx="1463040" cy="1106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6053328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End-to-End Working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658368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All modules connected from frontend to backend to MySQL database — no mock data needed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473952"/>
            <a:ext cx="11274552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All modules are fully functional, connected to a live MySQL database, and tested with real data.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321464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Future Scope &amp;
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EDE9FE"/>
                </a:solidFill>
                <a:latin typeface="Calibri"/>
              </a:rPr>
              <a:t>Planned enhancements and final takeaways from the project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Future Scope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5486400" cy="25603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91440" cy="2560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08176"/>
            <a:ext cx="51937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Planned Future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65376"/>
            <a:ext cx="5193792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Mobile App: </a:t>
            </a:r>
            <a:r>
              <a:rPr sz="1350">
                <a:solidFill>
                  <a:srgbClr val="374151"/>
                </a:solidFill>
                <a:latin typeface="Calibri"/>
              </a:rPr>
              <a:t>Native Android/iOS app for parents and students.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SMS / Email Alerts: </a:t>
            </a:r>
            <a:r>
              <a:rPr sz="1350">
                <a:solidFill>
                  <a:srgbClr val="374151"/>
                </a:solidFill>
                <a:latin typeface="Calibri"/>
              </a:rPr>
              <a:t>Automated fee reminders and attendance alerts via SMS.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Online Fee Payment: </a:t>
            </a:r>
            <a:r>
              <a:rPr sz="1350">
                <a:solidFill>
                  <a:srgbClr val="374151"/>
                </a:solidFill>
                <a:latin typeface="Calibri"/>
              </a:rPr>
              <a:t>Integrate payment gateways (Razorpay, PayPal).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Biometric Integration: </a:t>
            </a:r>
            <a:r>
              <a:rPr sz="1350">
                <a:solidFill>
                  <a:srgbClr val="374151"/>
                </a:solidFill>
                <a:latin typeface="Calibri"/>
              </a:rPr>
              <a:t>Fingerprint attendance for students and staff.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Multi-School: </a:t>
            </a:r>
            <a:r>
              <a:rPr sz="1350">
                <a:solidFill>
                  <a:srgbClr val="374151"/>
                </a:solidFill>
                <a:latin typeface="Calibri"/>
              </a:rPr>
              <a:t>Support multiple branches under one admin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298448"/>
            <a:ext cx="5577840" cy="25603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1298448"/>
            <a:ext cx="91440" cy="2560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408176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AI Enhancements 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865376"/>
            <a:ext cx="5285232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Deep Learning: </a:t>
            </a:r>
            <a:r>
              <a:rPr sz="1350">
                <a:solidFill>
                  <a:srgbClr val="374151"/>
                </a:solidFill>
                <a:latin typeface="Calibri"/>
              </a:rPr>
              <a:t>Replace linear model with neural network for better accuracy.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Dropout Prediction: </a:t>
            </a:r>
            <a:r>
              <a:rPr sz="1350">
                <a:solidFill>
                  <a:srgbClr val="374151"/>
                </a:solidFill>
                <a:latin typeface="Calibri"/>
              </a:rPr>
              <a:t>Identify students likely to drop out before it happens.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Personalised Plans: </a:t>
            </a:r>
            <a:r>
              <a:rPr sz="1350">
                <a:solidFill>
                  <a:srgbClr val="374151"/>
                </a:solidFill>
                <a:latin typeface="Calibri"/>
              </a:rPr>
              <a:t>AI generates custom study plans per student.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NLP Notices: </a:t>
            </a:r>
            <a:r>
              <a:rPr sz="1350">
                <a:solidFill>
                  <a:srgbClr val="374151"/>
                </a:solidFill>
                <a:latin typeface="Calibri"/>
              </a:rPr>
              <a:t>AI automatically summarises notices for quick reading.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Real data training: </a:t>
            </a:r>
            <a:r>
              <a:rPr sz="1350">
                <a:solidFill>
                  <a:srgbClr val="374151"/>
                </a:solidFill>
                <a:latin typeface="Calibri"/>
              </a:rPr>
              <a:t>Train on actual school data for each institution.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41648"/>
            <a:ext cx="11274552" cy="24231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041648"/>
            <a:ext cx="91440" cy="2423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151376"/>
            <a:ext cx="1098194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608576"/>
            <a:ext cx="10981944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What we built: </a:t>
            </a:r>
            <a:r>
              <a:rPr sz="1350">
                <a:solidFill>
                  <a:srgbClr val="374151"/>
                </a:solidFill>
                <a:latin typeface="Calibri"/>
              </a:rPr>
              <a:t>A complete, production-ready school management platform with 16 modules, 4 user roles, and AI predictions.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Impact: </a:t>
            </a:r>
            <a:r>
              <a:rPr sz="1350">
                <a:solidFill>
                  <a:srgbClr val="374151"/>
                </a:solidFill>
                <a:latin typeface="Calibri"/>
              </a:rPr>
              <a:t>Eliminates paper-based systems, reduces admin workload, and gives real-time visibility to all stakeholders.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Technical achievement: </a:t>
            </a:r>
            <a:r>
              <a:rPr sz="1350">
                <a:solidFill>
                  <a:srgbClr val="374151"/>
                </a:solidFill>
                <a:latin typeface="Calibri"/>
              </a:rPr>
              <a:t>Successfully integrated React frontend, Express API, MySQL database, JWT auth, and ML analytics.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Learnings: </a:t>
            </a:r>
            <a:r>
              <a:rPr sz="1350">
                <a:solidFill>
                  <a:srgbClr val="374151"/>
                </a:solidFill>
                <a:latin typeface="Calibri"/>
              </a:rPr>
              <a:t>Gained hands-on experience in full-stack web development, relational databases, REST APIs, and AI integration.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183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4183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 i="0">
                <a:solidFill>
                  <a:srgbClr val="DBEAFE"/>
                </a:solidFill>
                <a:latin typeface="Calibri"/>
              </a:rPr>
              <a:t>EduPro Elite — School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611880"/>
            <a:ext cx="66751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B4C8EB"/>
                </a:solidFill>
                <a:latin typeface="Calibri"/>
              </a:rPr>
              <a:t>Ankit Kumar Dubey  ·  Sukumar Gope  ·  Ravikant Mahto  ·  Aryan Kumar  ·  Abhijeet K. Prajapati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4340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829BC8"/>
                </a:solidFill>
                <a:latin typeface="Calibri"/>
              </a:rPr>
              <a:t>UCET, Vinoba Bhave University   |   B.Tech Information Technology   |   Batch 2022–2026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64608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829BC8"/>
                </a:solidFill>
                <a:latin typeface="Calibri"/>
              </a:rPr>
              <a:t>Guided by: Mr. Sumeet Kumar (Asst. Prof.)  &amp;  Mr. Awadhesh Kumar (H.O.D)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5532120"/>
            <a:ext cx="448056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5687568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Open for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